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48640"/>
            <a:ext cx="1005840" cy="91440"/>
          </a:xfrm>
          <a:prstGeom prst="roundRect">
            <a:avLst>
              <a:gd name="adj" fmla="val 6000"/>
            </a:avLst>
          </a:prstGeom>
          <a:solidFill>
            <a:srgbClr val="00D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E8F5EE"/>
                </a:solidFill>
                <a:latin typeface="Segoe UI"/>
              </a:rPr>
              <a:t>MezoGig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0D68F"/>
                </a:solidFill>
                <a:latin typeface="Segoe UI"/>
              </a:rPr>
              <a:t>Milestone escrow for freelance work, settled in MUSD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0"/>
            <a:ext cx="100584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E8F5EE"/>
                </a:solidFill>
                <a:latin typeface="Segoe UI"/>
              </a:rPr>
              <a:t>The client locks the whole gig budget up-front in MUSD. Each milestone is released on delivery;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E8F5EE"/>
                </a:solidFill>
                <a:latin typeface="Segoe UI"/>
              </a:rPr>
              <a:t>a silent client cannot block payment forever, and a disputed milestone is split by an arbiter.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E8F5EE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8FB5A1"/>
                </a:solidFill>
                <a:latin typeface="Segoe UI"/>
              </a:rPr>
              <a:t>AKINDO “Build with MUSD and MEZO” · Wave 1 · Mezo Testnet (chainId 31611)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846320"/>
            <a:ext cx="5212080" cy="123444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983480"/>
            <a:ext cx="4846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FB5A1"/>
                </a:solidFill>
                <a:latin typeface="Segoe UI"/>
              </a:rPr>
              <a:t>Live demo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https://mak777uh.github.io/mezogig/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Repo: github.com/mak777uh/mezogig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4846320"/>
            <a:ext cx="5394960" cy="123444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4983480"/>
            <a:ext cx="5029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FB5A1"/>
                </a:solidFill>
                <a:latin typeface="Segoe UI"/>
              </a:rPr>
              <a:t>Contract (Mezo Testnet)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E8F5EE"/>
                </a:solidFill>
                <a:latin typeface="Segoe UI"/>
              </a:rPr>
              <a:t>0x247b313d0eD3C532B16c7E5f9eA760272361600F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Sourcify exact_match · 90 tests · no owner, no fee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1/9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Freelancers work first and get paid later — or not at 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94560"/>
            <a:ext cx="475488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D68F"/>
                </a:solidFill>
                <a:latin typeface="Segoe UI"/>
              </a:rPr>
              <a:t>For the freelancer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Deliver first → the client can disappear with the work.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No small-claims court for a $300 gig across borders.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Clients who do pay upfront invert the risk the other way.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E8F5EE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00D68F"/>
                </a:solidFill>
                <a:latin typeface="Segoe UI"/>
              </a:rPr>
              <a:t>For the client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Pay first → the freelancer can disappear with the money.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No neutral, cheap way to hold funds per milestone.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201168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194560"/>
            <a:ext cx="493776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D68F"/>
                </a:solidFill>
                <a:latin typeface="Segoe UI"/>
              </a:rPr>
              <a:t>Why stablecoin, why now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Crypto clients can pay instantly — but a volatile budget is unusable for real work.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MUSD is a Bitcoin-backed stablecoin: the client keeps BTC exposure, the freelancer gets a stable unit.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Existing escrow contracts are all-or-nothing: no milestones, no review window, no refunds, no arbiter.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1">
                <a:solidFill>
                  <a:srgbClr val="FFB020"/>
                </a:solidFill>
                <a:latin typeface="Segoe UI"/>
              </a:rPr>
              <a:t>•  Result: crypto-native work still runs on trust and screenshots.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2/9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One escrow contract, four exits, zero admin keys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66928" cy="566928"/>
          </a:xfrm>
          <a:prstGeom prst="roundRect">
            <a:avLst>
              <a:gd name="adj" fmla="val 6000"/>
            </a:avLst>
          </a:prstGeom>
          <a:solidFill>
            <a:srgbClr val="00D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039112"/>
            <a:ext cx="566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4130C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92938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F5EE"/>
                </a:solidFill>
                <a:latin typeface="Segoe UI"/>
              </a:rPr>
              <a:t>1 · Fund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3134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FB5A1"/>
                </a:solidFill>
                <a:latin typeface="Segoe UI"/>
              </a:rPr>
              <a:t>Client deposits the full budget in MUSD (approve, or one-tx EIP-2612 permit).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98648"/>
            <a:ext cx="566928" cy="566928"/>
          </a:xfrm>
          <a:prstGeom prst="roundRect">
            <a:avLst>
              <a:gd name="adj" fmla="val 6000"/>
            </a:avLst>
          </a:prstGeom>
          <a:solidFill>
            <a:srgbClr val="00D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71800"/>
            <a:ext cx="566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4130C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86207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F5EE"/>
                </a:solidFill>
                <a:latin typeface="Segoe UI"/>
              </a:rPr>
              <a:t>2 · Deliver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246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FB5A1"/>
                </a:solidFill>
                <a:latin typeface="Segoe UI"/>
              </a:rPr>
              <a:t>Freelancer submits a milestone with a proof link before its deadline.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831336"/>
            <a:ext cx="566928" cy="566928"/>
          </a:xfrm>
          <a:prstGeom prst="roundRect">
            <a:avLst>
              <a:gd name="adj" fmla="val 6000"/>
            </a:avLst>
          </a:prstGeom>
          <a:solidFill>
            <a:srgbClr val="00D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904488"/>
            <a:ext cx="566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4130C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7947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F5EE"/>
                </a:solidFill>
                <a:latin typeface="Segoe UI"/>
              </a:rPr>
              <a:t>3 · Release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17880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FB5A1"/>
                </a:solidFill>
                <a:latin typeface="Segoe UI"/>
              </a:rPr>
              <a:t>Client approves → paid instantly. Silence → freelancer claims after 148 s review window.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64024"/>
            <a:ext cx="566928" cy="566928"/>
          </a:xfrm>
          <a:prstGeom prst="roundRect">
            <a:avLst>
              <a:gd name="adj" fmla="val 6000"/>
            </a:avLst>
          </a:prstGeom>
          <a:solidFill>
            <a:srgbClr val="00D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837176"/>
            <a:ext cx="566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4130C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7274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F5EE"/>
                </a:solidFill>
                <a:latin typeface="Segoe UI"/>
              </a:rPr>
              <a:t>4 · Exit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511149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FB5A1"/>
                </a:solidFill>
                <a:latin typeface="Segoe UI"/>
              </a:rPr>
              <a:t>Missed deadline → refund. Disagreement → arbiter splits. Both agree → mutual cancel.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623560"/>
            <a:ext cx="10881360" cy="658368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733288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No owner role · no platform fee · no upgradeability · token address immutable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3/9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INTEGRATION (30 % OF THE SCORE)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How MUSD is used — not decoration, settlement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852160" cy="384048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39496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D68F"/>
                </a:solidFill>
                <a:latin typeface="Segoe UI"/>
              </a:rPr>
              <a:t>Money flows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0">
                <a:solidFill>
                  <a:srgbClr val="E8F5EE"/>
                </a:solidFill>
                <a:latin typeface="Segoe UI"/>
              </a:rPr>
              <a:t>•  Deposit: safeTransferFrom(client → escrow) of the full milestone sum, or createGigWithPermit (EIP-2612) with no separate approve.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0">
                <a:solidFill>
                  <a:srgbClr val="E8F5EE"/>
                </a:solidFill>
                <a:latin typeface="Segoe UI"/>
              </a:rPr>
              <a:t>•  Payout: escrow → freelancer on approve, or on claim after the review period.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0">
                <a:solidFill>
                  <a:srgbClr val="E8F5EE"/>
                </a:solidFill>
                <a:latin typeface="Segoe UI"/>
              </a:rPr>
              <a:t>•  Refund: escrow → client after a missed deadline, or on mutual cancel.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0">
                <a:solidFill>
                  <a:srgbClr val="E8F5EE"/>
                </a:solidFill>
                <a:latin typeface="Segoe UI"/>
              </a:rPr>
              <a:t>•  Dispute: arbiter splits the milestone by basis points; the remainder returns to the client.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1">
                <a:solidFill>
                  <a:srgbClr val="00D68F"/>
                </a:solidFill>
                <a:latin typeface="Segoe UI"/>
              </a:rPr>
              <a:t>•  Accounting invariant: paidOut + refunded ≤ funded, each milestone settles exactly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1965960"/>
            <a:ext cx="4754880" cy="384048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2148840"/>
            <a:ext cx="429768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D68F"/>
                </a:solidFill>
                <a:latin typeface="Segoe UI"/>
              </a:rPr>
              <a:t>Facts on-chain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0">
                <a:solidFill>
                  <a:srgbClr val="E8F5EE"/>
                </a:solidFill>
                <a:latin typeface="Segoe UI"/>
              </a:rPr>
              <a:t>•  MUSD 0x118917a40FAF1CD7a13dB0Ef56C86De7973Ac503 — 18 decimals, permit supported.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0">
                <a:solidFill>
                  <a:srgbClr val="E8F5EE"/>
                </a:solidFill>
                <a:latin typeface="Segoe UI"/>
              </a:rPr>
              <a:t>•  Contract bound to that token by an immutable address.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0">
                <a:solidFill>
                  <a:srgbClr val="E8F5EE"/>
                </a:solidFill>
                <a:latin typeface="Segoe UI"/>
              </a:rPr>
              <a:t>•  Deployed on Mezo Testnet, block 16247351.</a:t>
            </a:r>
          </a:p>
          <a:p>
            <a:pPr algn="l">
              <a:spcAft>
                <a:spcPts val="600"/>
              </a:spcAft>
            </a:pPr>
            <a:r>
              <a:rPr sz="600" b="0">
                <a:solidFill>
                  <a:srgbClr val="E8F5EE"/>
                </a:solidFill>
                <a:latin typeface="Segoe UI"/>
              </a:rPr>
              <a:t/>
            </a:r>
          </a:p>
          <a:p>
            <a:pPr algn="l" indent="-171450" marL="171450">
              <a:spcAft>
                <a:spcPts val="600"/>
              </a:spcAft>
            </a:pPr>
            <a:r>
              <a:rPr sz="1300" b="1">
                <a:solidFill>
                  <a:srgbClr val="FFB020"/>
                </a:solidFill>
                <a:latin typeface="Segoe UI"/>
              </a:rPr>
              <a:t>•  Honest gap: MEZO token is not integrated.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8FB5A1"/>
                </a:solidFill>
                <a:latin typeface="Segoe UI"/>
              </a:rPr>
              <a:t>The rules allow “MUSD and/or MEZO”; MEZO utility (fee discounts, staked arbiters) is on the roadmap and is not claimed as done.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4/9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DEMO (10 % UX + 10 % MATERIALS)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What a judge sees in the first five minutes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-my-gi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65960"/>
            <a:ext cx="3520440" cy="24332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709160"/>
            <a:ext cx="3520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Gigs list, role filters, live contract link</a:t>
            </a:r>
          </a:p>
        </p:txBody>
      </p:sp>
      <p:pic>
        <p:nvPicPr>
          <p:cNvPr id="7" name="Picture 6" descr="02-create-g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965960"/>
            <a:ext cx="3520440" cy="24332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343400" y="4709160"/>
            <a:ext cx="3520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Create: two milestones, deadlines, deposit</a:t>
            </a:r>
          </a:p>
        </p:txBody>
      </p:sp>
      <p:pic>
        <p:nvPicPr>
          <p:cNvPr id="9" name="Picture 8" descr="03-connect-wall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965960"/>
            <a:ext cx="3520440" cy="243324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46720" y="4709160"/>
            <a:ext cx="3520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Wallet connect — Mezo Testnet only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3492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68112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Create → submit → approve → claim → dispute → refund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5EE"/>
                </a:solidFill>
                <a:latin typeface="Segoe UI"/>
              </a:rPr>
              <a:t>Live: https://mak777uh.github.io/mezogig/  ·  contract: https://explorer.test.mezo.org/address/0x247b313d0eD3C532B16c7E5f9eA760272361600F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5/9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TECHNICAL (20 %)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Small contract, boring security, checkable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3911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D68F"/>
                </a:solidFill>
                <a:latin typeface="Segoe UI"/>
              </a:rPr>
              <a:t>90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3172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lifecycle, guards, terminal states, fuzz invariants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88920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86207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D68F"/>
                </a:solidFill>
                <a:latin typeface="Segoe UI"/>
              </a:rPr>
              <a:t>100 % / 92 %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5468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statements / branches of the escrow contract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11880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68503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D68F"/>
                </a:solidFill>
                <a:latin typeface="Segoe UI"/>
              </a:rPr>
              <a:t>6 attacks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97764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malicious ERC-20 reentrancy attempts, all rejected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34840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50799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D68F"/>
                </a:solidFill>
                <a:latin typeface="Segoe UI"/>
              </a:rPr>
              <a:t>6 Slither findings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80060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every one dispositioned, no high/medium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257800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33095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D68F"/>
                </a:solidFill>
                <a:latin typeface="Segoe UI"/>
              </a:rPr>
              <a:t>Sourcify exact_match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62356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creation + runtime bytecode, chain 31611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1965960"/>
            <a:ext cx="5212080" cy="2331720"/>
          </a:xfrm>
          <a:prstGeom prst="roundRect">
            <a:avLst>
              <a:gd name="adj" fmla="val 6000"/>
            </a:avLst>
          </a:prstGeom>
          <a:solidFill>
            <a:srgbClr val="06180F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084831"/>
            <a:ext cx="48463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5A1"/>
                </a:solidFill>
                <a:latin typeface="Segoe UI"/>
              </a:rPr>
              <a:t>Verify in one command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ESCROW_ADDRESS=0x247b…600F \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  node scripts/check-musd.js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00D68F"/>
                </a:solidFill>
                <a:latin typeface="Segoe UI"/>
              </a:rPr>
              <a:t>→ musd(), reviewPeriod()=148, gigCount()=0</a:t>
            </a:r>
          </a:p>
          <a:p>
            <a:pPr algn="l">
              <a:spcAft>
                <a:spcPts val="600"/>
              </a:spcAft>
            </a:pPr>
            <a:r>
              <a:rPr sz="400" b="0">
                <a:solidFill>
                  <a:srgbClr val="E8F5EE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npm test        # 90 passing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npm run coverage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npm run verify:sourcify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4434840"/>
            <a:ext cx="5212080" cy="141732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4553712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Security model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5EE"/>
                </a:solidFill>
                <a:latin typeface="Segoe UI"/>
              </a:rPr>
              <a:t>No owner, no withdrawal path, no delegatecall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5EE"/>
                </a:solidFill>
                <a:latin typeface="Segoe UI"/>
              </a:rPr>
              <a:t>CEI + nonReentrant + SafeERC20, immutable token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5EE"/>
                </a:solidFill>
                <a:latin typeface="Segoe UI"/>
              </a:rPr>
              <a:t>Payouts bounded per milestone, settle once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6/9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BUSINESS (30 %)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Why the market pays for this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12140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Who is the customer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560320"/>
            <a:ext cx="31089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Freelancers and small agencies serving crypto-native clients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DAOs outsourcing bounded tasks (design, audits, content)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BTC holders in the Mezo economy who need to pay for work without selling BTC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96596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44568" y="212140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Why Mezo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4568" y="2560320"/>
            <a:ext cx="31089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MUSD is a BTC-backed stable unit — the missing piece for work payments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Mezo’s audience already holds BTC and wants to spend without exiting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Escrow makes MUSD a settlement rail, not just a savings asset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96596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47888" y="212140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How it makes money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7888" y="2560320"/>
            <a:ext cx="31089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No fee in v1 (adoption); v2: optional arbiter marketplace and MEZO fee discounts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Distribution through Mezo Discord / AKINDO builders and freelance communities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Each gig is a repeatable on-chain flow: more MUSD volume, more wallets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B020"/>
                </a:solidFill>
                <a:latin typeface="Segoe UI"/>
              </a:rPr>
              <a:t>Positioning: every 1 MUSD that moves through MezoGig is MUSD used for real work — the exact utility Mezo is building toward.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7/9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ROADMAP &amp;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Three milestones, and what we are honest about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6675120" cy="77724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M1 · 2 weeks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21488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Hosted frontend polish, wallet UX, gig templates, docs video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6675120" cy="77724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971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M2 · 4 weeks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30632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Mezo mainnet deployment, third-party review, incident runbook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794760"/>
            <a:ext cx="6675120" cy="77724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8862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M3 · 8 weeks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39776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Dispute v2: staked arbiters, reputation, MEZO fee discounts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1965960"/>
            <a:ext cx="3931920" cy="260604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2103120"/>
            <a:ext cx="35661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Team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Operator (human): product, registration, payments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AI agent team: contract, tests, frontend, docs</a:t>
            </a:r>
          </a:p>
          <a:p>
            <a:pPr algn="l">
              <a:spcAft>
                <a:spcPts val="600"/>
              </a:spcAft>
            </a:pPr>
            <a:r>
              <a:rPr sz="600" b="0">
                <a:solidFill>
                  <a:srgbClr val="E8F5EE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Built during Wave 1; code, tests and deployment are public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709160"/>
            <a:ext cx="3931920" cy="114300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4828032"/>
            <a:ext cx="3566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Links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5EE"/>
                </a:solidFill>
                <a:latin typeface="Segoe UI"/>
              </a:rPr>
              <a:t>github.com/mak777uh/mezogig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5EE"/>
                </a:solidFill>
                <a:latin typeface="Segoe UI"/>
              </a:rPr>
              <a:t>mak777uh.github.io/mezogig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8/9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NEW · 23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The same escrow, operable by an 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394960" cy="384048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493776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D68F"/>
                </a:solidFill>
                <a:latin typeface="Segoe UI"/>
              </a:rPr>
              <a:t>Machine-readable CLI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scripts/agent-console.js — no UI, no keys printed</a:t>
            </a:r>
          </a:p>
          <a:p>
            <a:pPr algn="l">
              <a:spcAft>
                <a:spcPts val="600"/>
              </a:spcAft>
            </a:pPr>
            <a:r>
              <a:rPr sz="500" b="0">
                <a:solidFill>
                  <a:srgbClr val="E8F5EE"/>
                </a:solidFill>
                <a:latin typeface="Segoe UI"/>
              </a:rPr>
              <a:t/>
            </a:r>
          </a:p>
          <a:p>
            <a:pPr algn="l" indent="-171450" marL="171450">
              <a:spcAft>
                <a:spcPts val="600"/>
              </a:spcAft>
            </a:pPr>
            <a:r>
              <a:rPr sz="1100" b="0">
                <a:solidFill>
                  <a:srgbClr val="E8F5EE"/>
                </a:solidFill>
                <a:latin typeface="Segoe UI"/>
              </a:rPr>
              <a:t>•  CLI: status / jobs list / job get / watch / verify</a:t>
            </a:r>
          </a:p>
          <a:p>
            <a:pPr algn="l" indent="-171450" marL="171450">
              <a:spcAft>
                <a:spcPts val="600"/>
              </a:spcAft>
            </a:pPr>
            <a:r>
              <a:rPr sz="1100" b="0">
                <a:solidFill>
                  <a:srgbClr val="E8F5EE"/>
                </a:solidFill>
                <a:latin typeface="Segoe UI"/>
              </a:rPr>
              <a:t>•  MCP: create_gig / fund_gig / submit / approve / dispute / status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lifecycle commands build calldata; --dry-run is the default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exit codes 0/1/2/3 = ok / input / network / revert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21 new tests (CLI + MCP + pin); npm test = 90 passing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commit fbf6fb8; contract unchanged</a:t>
            </a:r>
          </a:p>
          <a:p>
            <a:pPr algn="l" indent="-171450" marL="171450">
              <a:spcAft>
                <a:spcPts val="600"/>
              </a:spcAft>
            </a:pPr>
            <a:r>
              <a:rPr sz="1100" b="0">
                <a:solidFill>
                  <a:srgbClr val="E8F5EE"/>
                </a:solidFill>
                <a:latin typeface="Segoe UI"/>
              </a:rPr>
              <a:t>•  Sourcify exact_match · creation + runtime</a:t>
            </a:r>
          </a:p>
          <a:p>
            <a:pPr algn="l">
              <a:spcAft>
                <a:spcPts val="600"/>
              </a:spcAft>
            </a:pPr>
            <a:r>
              <a:rPr sz="500" b="0">
                <a:solidFill>
                  <a:srgbClr val="E8F5EE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Read-only calls checked against the deployed contract; no transaction sent.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65960"/>
            <a:ext cx="5212080" cy="3840480"/>
          </a:xfrm>
          <a:prstGeom prst="roundRect">
            <a:avLst>
              <a:gd name="adj" fmla="val 6000"/>
            </a:avLst>
          </a:prstGeom>
          <a:solidFill>
            <a:srgbClr val="06180F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2103120"/>
            <a:ext cx="484632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0D68F"/>
                </a:solidFill>
                <a:latin typeface="Segoe UI"/>
              </a:rPr>
              <a:t>$ npm run agent -- verify --json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{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  "chainId": 31611,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E8F5EE"/>
                </a:solidFill>
                <a:latin typeface="Segoe UI"/>
              </a:rPr>
              <a:t>  "escrow": "0x247b313d0eD3C532B16c7E5f9eA760272361600F",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E8F5EE"/>
                </a:solidFill>
                <a:latin typeface="Segoe UI"/>
              </a:rPr>
              <a:t>  "musd": "0x118917a40FAF1CD7a13dB0Ef56C86De7973Ac503",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  "musdMatches": true,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  "reviewPeriodSeconds": 148,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  "ok": true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}</a:t>
            </a:r>
          </a:p>
          <a:p>
            <a:pPr algn="l">
              <a:spcAft>
                <a:spcPts val="300"/>
              </a:spcAft>
            </a:pPr>
            <a:r>
              <a:rPr sz="1000" b="1">
                <a:solidFill>
                  <a:srgbClr val="00D68F"/>
                </a:solidFill>
                <a:latin typeface="Segoe UI"/>
              </a:rPr>
              <a:t>$ npm test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00D68F"/>
                </a:solidFill>
                <a:latin typeface="Segoe UI"/>
              </a:rPr>
              <a:t>90 passing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9/9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