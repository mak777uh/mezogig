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48640"/>
            <a:ext cx="1005840" cy="91440"/>
          </a:xfrm>
          <a:prstGeom prst="roundRect">
            <a:avLst>
              <a:gd name="adj" fmla="val 6000"/>
            </a:avLst>
          </a:prstGeom>
          <a:solidFill>
            <a:srgbClr val="00D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E8F5EE"/>
                </a:solidFill>
                <a:latin typeface="Segoe UI"/>
              </a:rPr>
              <a:t>MezoGig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D68F"/>
                </a:solidFill>
                <a:latin typeface="Segoe UI"/>
              </a:rPr>
              <a:t>Milestone escrow for freelance work, settled in MUSD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8F5EE"/>
                </a:solidFill>
                <a:latin typeface="Segoe UI"/>
              </a:rPr>
              <a:t>The client locks the whole gig budget up-front in MUSD. Each milestone is released on delivery;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8F5EE"/>
                </a:solidFill>
                <a:latin typeface="Segoe UI"/>
              </a:rPr>
              <a:t>a silent client cannot block payment forever, and a disputed milestone is split by an arbiter.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FB5A1"/>
                </a:solidFill>
                <a:latin typeface="Segoe UI"/>
              </a:rPr>
              <a:t>AKINDO “Build with MUSD and MEZO” · Wave 1 · Mezo Testnet (chainId 31611)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FB5A1"/>
                </a:solidFill>
                <a:latin typeface="Segoe UI"/>
              </a:rPr>
              <a:t>Live demo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https://mak777uh.github.io/mezogig/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Repo: github.com/mak777uh/mezogig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84632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98348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FB5A1"/>
                </a:solidFill>
                <a:latin typeface="Segoe UI"/>
              </a:rPr>
              <a:t>Contract (Mezo Testnet)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8F5EE"/>
                </a:solidFill>
                <a:latin typeface="Segoe UI"/>
              </a:rPr>
              <a:t>0x247b313d0eD3C532B16c7E5f9eA760272361600F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Sourcify exact_match · 90 tests · no owner, no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Freelancers work first and get paid later — or not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D68F"/>
                </a:solidFill>
                <a:latin typeface="Segoe UI"/>
              </a:rPr>
              <a:t>For the freelancer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Deliver first → the client can disappear with the work.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No small-claims court for a $300 gig across borders.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Clients who do pay upfront invert the risk the other way.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0D68F"/>
                </a:solidFill>
                <a:latin typeface="Segoe UI"/>
              </a:rPr>
              <a:t>For the client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Pay first → the freelancer can disappear with the money.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No neutral, cheap way to hold funds per milestone.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19456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D68F"/>
                </a:solidFill>
                <a:latin typeface="Segoe UI"/>
              </a:rPr>
              <a:t>Why stablecoin, why now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Crypto clients can pay instantly — but a volatile budget is unusable for real work.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MUSD is a Bitcoin-backed stablecoin: the client keeps BTC exposure, the freelancer gets a stable unit.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•  Existing escrow contracts are all-or-nothing: no milestones, no review window, no refunds, no arbiter.</a:t>
            </a:r>
          </a:p>
          <a:p>
            <a:pPr algn="l" indent="-171450" marL="171450">
              <a:spcAft>
                <a:spcPts val="600"/>
              </a:spcAft>
            </a:pPr>
            <a:r>
              <a:rPr sz="1400" b="1">
                <a:solidFill>
                  <a:srgbClr val="FFB020"/>
                </a:solidFill>
                <a:latin typeface="Segoe UI"/>
              </a:rPr>
              <a:t>•  Result: crypto-native work still runs on trust and screenshots.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One escrow contract, four exits, zero admin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0D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39112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4130C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9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F5EE"/>
                </a:solidFill>
                <a:latin typeface="Segoe UI"/>
              </a:rPr>
              <a:t>1 · 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134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FB5A1"/>
                </a:solidFill>
                <a:latin typeface="Segoe UI"/>
              </a:rPr>
              <a:t>Client deposits the full budget in MUSD (approve, or one-tx EIP-2612 permit).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986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0D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4130C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62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F5EE"/>
                </a:solidFill>
                <a:latin typeface="Segoe UI"/>
              </a:rPr>
              <a:t>2 · 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46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FB5A1"/>
                </a:solidFill>
                <a:latin typeface="Segoe UI"/>
              </a:rPr>
              <a:t>Freelancer submits a milestone with a proof link before its deadline.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31336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0D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04488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4130C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F5EE"/>
                </a:solidFill>
                <a:latin typeface="Segoe UI"/>
              </a:rPr>
              <a:t>3 ·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1788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FB5A1"/>
                </a:solidFill>
                <a:latin typeface="Segoe UI"/>
              </a:rPr>
              <a:t>Client approves → paid instantly. Silence → freelancer claims after 148 s review window.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64024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0D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37176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4130C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7274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F5EE"/>
                </a:solidFill>
                <a:latin typeface="Segoe UI"/>
              </a:rPr>
              <a:t>4 ·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1114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FB5A1"/>
                </a:solidFill>
                <a:latin typeface="Segoe UI"/>
              </a:rPr>
              <a:t>Missed deadline → refund. Disagreement → arbiter splits. Both agree → mutual cancel.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3328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No owner role · no platform fee · no upgradeability · token address immutable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INTEGRATION (30 % OF THE SCORE)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How MUSD is used — not decoration, settlement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852160" cy="384048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394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D68F"/>
                </a:solidFill>
                <a:latin typeface="Segoe UI"/>
              </a:rPr>
              <a:t>Money flows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Deposit: safeTransferFrom(client → escrow) of the full milestone sum, or createGigWithPermit (EIP-2612) with no separate approve.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Payout: escrow → freelancer on approve, or on claim after the review period.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Refund: escrow → client after a missed deadline, or on mutual cancel.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Dispute: arbiter splits the milestone by basis points; the remainder returns to the client.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1">
                <a:solidFill>
                  <a:srgbClr val="00D68F"/>
                </a:solidFill>
                <a:latin typeface="Segoe UI"/>
              </a:rPr>
              <a:t>•  Accounting invariant: paidOut + refunded ≤ funded, each milestone settles exactly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965960"/>
            <a:ext cx="4754880" cy="384048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148840"/>
            <a:ext cx="42976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D68F"/>
                </a:solidFill>
                <a:latin typeface="Segoe UI"/>
              </a:rPr>
              <a:t>Facts on-chain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MUSD 0x118917a40FAF1CD7a13dB0Ef56C86De7973Ac503 — 18 decimals, permit supported.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Contract bound to that token by an immutable address.</a:t>
            </a:r>
          </a:p>
          <a:p>
            <a:pPr algn="l" indent="-171450" marL="171450">
              <a:spcAft>
                <a:spcPts val="600"/>
              </a:spcAft>
            </a:pPr>
            <a:r>
              <a:rPr sz="1300" b="0">
                <a:solidFill>
                  <a:srgbClr val="E8F5EE"/>
                </a:solidFill>
                <a:latin typeface="Segoe UI"/>
              </a:rPr>
              <a:t>•  Deployed on Mezo Testnet, block 16247351.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 indent="-171450" marL="171450">
              <a:spcAft>
                <a:spcPts val="600"/>
              </a:spcAft>
            </a:pPr>
            <a:r>
              <a:rPr sz="1300" b="1">
                <a:solidFill>
                  <a:srgbClr val="FFB020"/>
                </a:solidFill>
                <a:latin typeface="Segoe UI"/>
              </a:rPr>
              <a:t>•  Honest gap: MEZO token is not integrated.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FB5A1"/>
                </a:solidFill>
                <a:latin typeface="Segoe UI"/>
              </a:rPr>
              <a:t>The rules allow “MUSD and/or MEZO”; MEZO utility (fee discounts, staked arbiters) is on the roadmap and is not claimed as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DEMO (10 % UX + 10 %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What a judge sees in the first five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my-gi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3520440" cy="24332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70916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Gigs list, role filters, live contract link</a:t>
            </a:r>
          </a:p>
        </p:txBody>
      </p:sp>
      <p:pic>
        <p:nvPicPr>
          <p:cNvPr id="7" name="Picture 6" descr="02-create-g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65960"/>
            <a:ext cx="3520440" cy="24332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3400" y="470916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Create: two milestones, deadlines, deposit</a:t>
            </a:r>
          </a:p>
        </p:txBody>
      </p:sp>
      <p:pic>
        <p:nvPicPr>
          <p:cNvPr id="9" name="Picture 8" descr="03-connect-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965960"/>
            <a:ext cx="3520440" cy="2433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470916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Wallet connect — Mezo Testnet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Create → submit → approve → claim → dispute → refund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Live: https://mak777uh.github.io/mezogig/  ·  contract: https://explorer.test.mezo.org/address/0x247b313d0eD3C532B16c7E5f9eA760272361600F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TECHNICAL (20 %)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Small contract, boring security, checkable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68F"/>
                </a:solidFill>
                <a:latin typeface="Segoe UI"/>
              </a:rPr>
              <a:t>90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lifecycle, guards, terminal states, fuzz invariants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620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68F"/>
                </a:solidFill>
                <a:latin typeface="Segoe UI"/>
              </a:rPr>
              <a:t>100 % / 92 %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statements / branches of the escrow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68F"/>
                </a:solidFill>
                <a:latin typeface="Segoe UI"/>
              </a:rPr>
              <a:t>6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malicious ERC-20 reentrancy attempts, all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079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68F"/>
                </a:solidFill>
                <a:latin typeface="Segoe UI"/>
              </a:rPr>
              <a:t>6 Slither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every one dispositioned, no high/medium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309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68F"/>
                </a:solidFill>
                <a:latin typeface="Segoe UI"/>
              </a:rPr>
              <a:t>Sourcify exact_match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creation + runtime bytecode, chain 31611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96596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06180F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84831"/>
            <a:ext cx="4846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5A1"/>
                </a:solidFill>
                <a:latin typeface="Segoe UI"/>
              </a:rPr>
              <a:t>Verify in one command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ESCROW_ADDRESS=0x247b…600F \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  node scripts/check-musd.js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00D68F"/>
                </a:solidFill>
                <a:latin typeface="Segoe UI"/>
              </a:rPr>
              <a:t>→ musd(), reviewPeriod()=148, gigCount()=0</a:t>
            </a:r>
          </a:p>
          <a:p>
            <a:pPr algn="l">
              <a:spcAft>
                <a:spcPts val="600"/>
              </a:spcAft>
            </a:pPr>
            <a:r>
              <a:rPr sz="4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npm test        # 90 passing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npm run coverage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npm run verify:sourcify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4348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53712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Security model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No owner, no withdrawal path, no delegatecall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CEI + nonReentrant + SafeERC20, immutable token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Payouts bounded per milestone, settle 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BUSINESS (30 %)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Why the market pays for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214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Who is the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60320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Freelancers and small agencies serving crypto-native clients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DAOs outsourcing bounded tasks (design, audits, content)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BTC holders in the Mezo economy who need to pay for work without selling BTC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1214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Why Mezo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560320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MUSD is a BTC-backed stable unit — the missing piece for work payments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Mezo’s audience already holds BTC and wants to spend without exiting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Escrow makes MUSD a settlement rail, not just a savings asset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1214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How it makes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560320"/>
            <a:ext cx="3108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No fee in v1 (adoption); v2: optional arbiter marketplace and MEZO fee discounts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Distribution through Mezo Discord / AKINDO builders and freelance communities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Each gig is a repeatable on-chain flow: more MUSD volume, more wallets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B020"/>
                </a:solidFill>
                <a:latin typeface="Segoe UI"/>
              </a:rPr>
              <a:t>Positioning: every 1 MUSD that moves through MezoGig is MUSD used for real work — the exact utility Mezo is building toward.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ROADMAP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Three milestones, and what we are honest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M1 · 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1488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Hosted frontend polish, wallet UX, gig templates, docs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M2 · 4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63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Mezo mainnet deployment, third-party review, incident runbook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M3 · 8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9776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Dispute v2: staked arbiters, reputation, MEZO fee discounts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965960"/>
            <a:ext cx="3931920" cy="260604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3566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Team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Operator (human): product, registration, payments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AI agent team: contract, tests, frontend, docs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Built during Wave 1; code, tests and deployment are public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709160"/>
            <a:ext cx="3931920" cy="114300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828032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Links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github.com/mak777uh/mezogig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mak777uh.github.io/mezogig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NEW · 23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The same escrow, operable by an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D68F"/>
                </a:solidFill>
                <a:latin typeface="Segoe UI"/>
              </a:rPr>
              <a:t>Machine-readable CLI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FB5A1"/>
                </a:solidFill>
                <a:latin typeface="Segoe UI"/>
              </a:rPr>
              <a:t>scripts/agent-console.js — no UI, no keys printed</a:t>
            </a:r>
          </a:p>
          <a:p>
            <a:pPr algn="l">
              <a:spcAft>
                <a:spcPts val="600"/>
              </a:spcAft>
            </a:pPr>
            <a:r>
              <a:rPr sz="5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 indent="-171450" marL="171450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•  CLI: status / jobs list / job get / watch / verify</a:t>
            </a:r>
          </a:p>
          <a:p>
            <a:pPr algn="l" indent="-171450" marL="171450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•  MCP: create_gig / fund_gig / submit / approve / dispute / status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lifecycle commands build calldata; --dry-run is the default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exit codes 0/1/2/3 = ok / input / network / revert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21 new tests (CLI + MCP + pin); npm test = 90 passing</a:t>
            </a:r>
          </a:p>
          <a:p>
            <a:pPr algn="l" indent="-171450" marL="171450">
              <a:spcAft>
                <a:spcPts val="600"/>
              </a:spcAft>
            </a:pPr>
            <a:r>
              <a:rPr sz="1200" b="0">
                <a:solidFill>
                  <a:srgbClr val="E8F5EE"/>
                </a:solidFill>
                <a:latin typeface="Segoe UI"/>
              </a:rPr>
              <a:t>•  commit fbf6fb8; contract unchanged</a:t>
            </a:r>
          </a:p>
          <a:p>
            <a:pPr algn="l" indent="-171450" marL="171450">
              <a:spcAft>
                <a:spcPts val="6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•  Sourcify exact_match · creation + runtime</a:t>
            </a:r>
          </a:p>
          <a:p>
            <a:pPr algn="l">
              <a:spcAft>
                <a:spcPts val="600"/>
              </a:spcAft>
            </a:pPr>
            <a:r>
              <a:rPr sz="5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Read-only calls checked against the deployed contract; no transaction 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6596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06180F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D68F"/>
                </a:solidFill>
                <a:latin typeface="Segoe UI"/>
              </a:rPr>
              <a:t>$ npm run agent -- verify --json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{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  "chainId": 31611,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E8F5EE"/>
                </a:solidFill>
                <a:latin typeface="Segoe UI"/>
              </a:rPr>
              <a:t>  "escrow": "0x247b313d0eD3C532B16c7E5f9eA760272361600F",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E8F5EE"/>
                </a:solidFill>
                <a:latin typeface="Segoe UI"/>
              </a:rPr>
              <a:t>  "musd": "0x118917a40FAF1CD7a13dB0Ef56C86De7973Ac503",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  "musdMatches": true,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  "reviewPeriodSeconds": 148,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  "ok": true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5EE"/>
                </a:solidFill>
                <a:latin typeface="Segoe UI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00D68F"/>
                </a:solidFill>
                <a:latin typeface="Segoe UI"/>
              </a:rPr>
              <a:t>$ npm test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0D68F"/>
                </a:solidFill>
                <a:latin typeface="Segoe UI"/>
              </a:rPr>
              <a:t>90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D68F"/>
                </a:solidFill>
                <a:latin typeface="Segoe UI"/>
              </a:rPr>
              <a:t>FORMAL ACCOUNTING ·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8F5EE"/>
                </a:solidFill>
                <a:latin typeface="Segoe UI"/>
              </a:rPr>
              <a:t>Machine-checked invariants, honest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46304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675120" cy="4160520"/>
          </a:xfrm>
          <a:prstGeom prst="roundRect">
            <a:avLst>
              <a:gd name="adj" fmla="val 6000"/>
            </a:avLst>
          </a:prstGeom>
          <a:solidFill>
            <a:srgbClr val="0A2015"/>
          </a:solidFill>
          <a:ln w="12700">
            <a:solidFill>
              <a:srgbClr val="1D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62179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D68F"/>
                </a:solidFill>
                <a:latin typeface="Segoe UI"/>
              </a:rPr>
              <a:t>Pinned Lean 4.30.0 · 0 sorry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An arithmetic model of the ledger, not a verification of Solidity bytecode.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8F5EE"/>
                </a:solidFill>
                <a:latin typeface="Segoe UI"/>
              </a:rPr>
              <a:t>No money creation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paidOut + refunded ≤ funded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MezoGig.no_money_creation</a:t>
            </a:r>
          </a:p>
          <a:p>
            <a:pPr algn="l">
              <a:spcAft>
                <a:spcPts val="200"/>
              </a:spcAft>
            </a:pPr>
            <a:r>
              <a:rPr sz="3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8F5EE"/>
                </a:solidFill>
                <a:latin typeface="Segoe UI"/>
              </a:rPr>
              <a:t>Budget completeness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milestones.sum = funded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MezoGig.budget_complete</a:t>
            </a:r>
          </a:p>
          <a:p>
            <a:pPr algn="l">
              <a:spcAft>
                <a:spcPts val="200"/>
              </a:spcAft>
            </a:pPr>
            <a:r>
              <a:rPr sz="3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8F5EE"/>
                </a:solidFill>
                <a:latin typeface="Segoe UI"/>
              </a:rPr>
              <a:t>Dispute exactness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a + b = amount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MezoGig.dispute_split_correct</a:t>
            </a:r>
          </a:p>
          <a:p>
            <a:pPr algn="l">
              <a:spcAft>
                <a:spcPts val="200"/>
              </a:spcAft>
            </a:pPr>
            <a:r>
              <a:rPr sz="3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8F5EE"/>
                </a:solidFill>
                <a:latin typeface="Segoe UI"/>
              </a:rPr>
              <a:t>Floor rounding never creates money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F5EE"/>
                </a:solidFill>
                <a:latin typeface="Segoe UI"/>
              </a:rPr>
              <a:t>Σ (total / n) ≤ total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MezoGig.floor_split_no_gain</a:t>
            </a:r>
          </a:p>
        </p:txBody>
      </p:sp>
      <p:pic>
        <p:nvPicPr>
          <p:cNvPr id="7" name="Picture 6" descr="lean_comp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20240"/>
            <a:ext cx="4023360" cy="2263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4480560"/>
            <a:ext cx="4023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E8F5EE"/>
                </a:solidFill>
                <a:latin typeface="Segoe UI"/>
              </a:rPr>
              <a:t>lake env lean Escrow.lean → exit 0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B5A1"/>
                </a:solidFill>
                <a:latin typeface="Segoe UI"/>
              </a:rPr>
              <a:t>CI: .github/workflows/lean.yml · 0 sorry</a:t>
            </a:r>
          </a:p>
          <a:p>
            <a:pPr algn="l">
              <a:spcAft>
                <a:spcPts val="600"/>
              </a:spcAft>
            </a:pPr>
            <a:r>
              <a:rPr sz="400" b="0">
                <a:solidFill>
                  <a:srgbClr val="E8F5E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FFB020"/>
                </a:solidFill>
                <a:latin typeface="Segoe UI"/>
              </a:rPr>
              <a:t>Scope: arithmetic model only; uint128 overflow, tokens and weighted splits are out of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MezoGig · milestone escrow in MUSD on Mezo · AKINDO “Build with MUSD and MEZO”, 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B5A1"/>
                </a:solidFill>
                <a:latin typeface="Segoe U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