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.png"/><Relationship Id="rId4" Type="http://schemas.openxmlformats.org/officeDocument/2006/relationships/image" Target="../media/image3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4130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640080" y="548640"/>
            <a:ext cx="1005840" cy="91440"/>
          </a:xfrm>
          <a:prstGeom prst="roundRect">
            <a:avLst>
              <a:gd name="adj" fmla="val 6000"/>
            </a:avLst>
          </a:prstGeom>
          <a:solidFill>
            <a:srgbClr val="00D6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1371600"/>
            <a:ext cx="1088136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5400" b="1">
                <a:solidFill>
                  <a:srgbClr val="E8F5EE"/>
                </a:solidFill>
                <a:latin typeface="Segoe UI"/>
              </a:rPr>
              <a:t>MezoGig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2377440"/>
            <a:ext cx="10424160" cy="10972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2800" b="1">
                <a:solidFill>
                  <a:srgbClr val="00D68F"/>
                </a:solidFill>
                <a:latin typeface="Segoe UI"/>
              </a:rPr>
              <a:t>Milestone escrow for freelance work, settled in MUSD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3200400"/>
            <a:ext cx="10058400" cy="1645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700" b="0">
                <a:solidFill>
                  <a:srgbClr val="E8F5EE"/>
                </a:solidFill>
                <a:latin typeface="Segoe UI"/>
              </a:rPr>
              <a:t>The client locks the whole gig budget up-front in MUSD. Each milestone is released on delivery;</a:t>
            </a:r>
          </a:p>
          <a:p>
            <a:pPr algn="l">
              <a:spcAft>
                <a:spcPts val="600"/>
              </a:spcAft>
            </a:pPr>
            <a:r>
              <a:rPr sz="1700" b="0">
                <a:solidFill>
                  <a:srgbClr val="E8F5EE"/>
                </a:solidFill>
                <a:latin typeface="Segoe UI"/>
              </a:rPr>
              <a:t>a silent client cannot block payment forever, and a disputed milestone is split by an arbiter.</a:t>
            </a:r>
          </a:p>
          <a:p>
            <a:pPr algn="l">
              <a:spcAft>
                <a:spcPts val="600"/>
              </a:spcAft>
            </a:pPr>
            <a:r>
              <a:rPr sz="800" b="0">
                <a:solidFill>
                  <a:srgbClr val="E8F5EE"/>
                </a:solidFill>
                <a:latin typeface="Segoe UI"/>
              </a:rPr>
              <a:t/>
            </a:r>
          </a:p>
          <a:p>
            <a:pPr algn="l">
              <a:spcAft>
                <a:spcPts val="600"/>
              </a:spcAft>
            </a:pPr>
            <a:r>
              <a:rPr sz="1400" b="0">
                <a:solidFill>
                  <a:srgbClr val="8FB5A1"/>
                </a:solidFill>
                <a:latin typeface="Segoe UI"/>
              </a:rPr>
              <a:t>AKINDO “Build with MUSD and MEZO” · Wave 1 · Mezo Testnet (chainId 31611)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40080" y="4846320"/>
            <a:ext cx="5212080" cy="1234440"/>
          </a:xfrm>
          <a:prstGeom prst="roundRect">
            <a:avLst>
              <a:gd name="adj" fmla="val 6000"/>
            </a:avLst>
          </a:prstGeom>
          <a:solidFill>
            <a:srgbClr val="0A2015"/>
          </a:solidFill>
          <a:ln w="12700">
            <a:solidFill>
              <a:srgbClr val="1D4A3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68680" y="4983480"/>
            <a:ext cx="4846320" cy="1005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100" b="1">
                <a:solidFill>
                  <a:srgbClr val="8FB5A1"/>
                </a:solidFill>
                <a:latin typeface="Segoe UI"/>
              </a:rPr>
              <a:t>Live demo</a:t>
            </a:r>
          </a:p>
          <a:p>
            <a:pPr algn="l">
              <a:spcAft>
                <a:spcPts val="600"/>
              </a:spcAft>
            </a:pPr>
            <a:r>
              <a:rPr sz="1400" b="1">
                <a:solidFill>
                  <a:srgbClr val="00D68F"/>
                </a:solidFill>
                <a:latin typeface="Segoe UI"/>
              </a:rPr>
              <a:t>https://mak777uh.github.io/mezogig/</a:t>
            </a:r>
          </a:p>
          <a:p>
            <a:pPr algn="l">
              <a:spcAft>
                <a:spcPts val="600"/>
              </a:spcAft>
            </a:pPr>
            <a:r>
              <a:rPr sz="1100" b="0">
                <a:solidFill>
                  <a:srgbClr val="8FB5A1"/>
                </a:solidFill>
                <a:latin typeface="Segoe UI"/>
              </a:rPr>
              <a:t>Repo: github.com/mak777uh/mezogig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126480" y="4846320"/>
            <a:ext cx="5394960" cy="1234440"/>
          </a:xfrm>
          <a:prstGeom prst="roundRect">
            <a:avLst>
              <a:gd name="adj" fmla="val 6000"/>
            </a:avLst>
          </a:prstGeom>
          <a:solidFill>
            <a:srgbClr val="0A2015"/>
          </a:solidFill>
          <a:ln w="12700">
            <a:solidFill>
              <a:srgbClr val="1D4A3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355080" y="4983480"/>
            <a:ext cx="5029200" cy="1005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100" b="1">
                <a:solidFill>
                  <a:srgbClr val="8FB5A1"/>
                </a:solidFill>
                <a:latin typeface="Segoe UI"/>
              </a:rPr>
              <a:t>Contract (Mezo Testnet)</a:t>
            </a:r>
          </a:p>
          <a:p>
            <a:pPr algn="l">
              <a:spcAft>
                <a:spcPts val="600"/>
              </a:spcAft>
            </a:pPr>
            <a:r>
              <a:rPr sz="1200" b="1">
                <a:solidFill>
                  <a:srgbClr val="E8F5EE"/>
                </a:solidFill>
                <a:latin typeface="Segoe UI"/>
              </a:rPr>
              <a:t>0x247b313d0eD3C532B16c7E5f9eA760272361600F</a:t>
            </a:r>
          </a:p>
          <a:p>
            <a:pPr algn="l">
              <a:spcAft>
                <a:spcPts val="600"/>
              </a:spcAft>
            </a:pPr>
            <a:r>
              <a:rPr sz="1100" b="0">
                <a:solidFill>
                  <a:srgbClr val="8FB5A1"/>
                </a:solidFill>
                <a:latin typeface="Segoe UI"/>
              </a:rPr>
              <a:t>Sourcify exact_match · 69 tests · no owner, no fee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40080" y="6400800"/>
            <a:ext cx="8229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000" b="0">
                <a:solidFill>
                  <a:srgbClr val="8FB5A1"/>
                </a:solidFill>
                <a:latin typeface="Segoe UI"/>
              </a:rPr>
              <a:t>MezoGig · milestone escrow in MUSD on Mezo · AKINDO “Build with MUSD and MEZO”, Wave 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789920" y="6400800"/>
            <a:ext cx="8229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Aft>
                <a:spcPts val="600"/>
              </a:spcAft>
            </a:pPr>
            <a:r>
              <a:rPr sz="1000" b="0">
                <a:solidFill>
                  <a:srgbClr val="8FB5A1"/>
                </a:solidFill>
                <a:latin typeface="Segoe UI"/>
              </a:rPr>
              <a:t>1/8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4130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11480"/>
            <a:ext cx="10972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200" b="1">
                <a:solidFill>
                  <a:srgbClr val="00D68F"/>
                </a:solidFill>
                <a:latin typeface="Segoe UI"/>
              </a:rPr>
              <a:t>PROBLEM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777240"/>
            <a:ext cx="1097280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3400" b="1">
                <a:solidFill>
                  <a:srgbClr val="E8F5EE"/>
                </a:solidFill>
                <a:latin typeface="Segoe UI"/>
              </a:rPr>
              <a:t>Freelancers work first and get paid later — or not at all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691640"/>
            <a:ext cx="1463040" cy="38100"/>
          </a:xfrm>
          <a:prstGeom prst="rect">
            <a:avLst/>
          </a:prstGeom>
          <a:solidFill>
            <a:srgbClr val="00D68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640080" y="2011680"/>
            <a:ext cx="5212080" cy="3566160"/>
          </a:xfrm>
          <a:prstGeom prst="roundRect">
            <a:avLst>
              <a:gd name="adj" fmla="val 6000"/>
            </a:avLst>
          </a:prstGeom>
          <a:solidFill>
            <a:srgbClr val="0A2015"/>
          </a:solidFill>
          <a:ln w="12700">
            <a:solidFill>
              <a:srgbClr val="1D4A3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68680" y="2194560"/>
            <a:ext cx="4754880" cy="3200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600" b="1">
                <a:solidFill>
                  <a:srgbClr val="00D68F"/>
                </a:solidFill>
                <a:latin typeface="Segoe UI"/>
              </a:rPr>
              <a:t>For the freelancer</a:t>
            </a:r>
          </a:p>
          <a:p>
            <a:pPr algn="l" indent="-171450" marL="171450">
              <a:spcAft>
                <a:spcPts val="600"/>
              </a:spcAft>
            </a:pPr>
            <a:r>
              <a:rPr sz="1400" b="0">
                <a:solidFill>
                  <a:srgbClr val="E8F5EE"/>
                </a:solidFill>
                <a:latin typeface="Segoe UI"/>
              </a:rPr>
              <a:t>•  Deliver first → the client can disappear with the work.</a:t>
            </a:r>
          </a:p>
          <a:p>
            <a:pPr algn="l" indent="-171450" marL="171450">
              <a:spcAft>
                <a:spcPts val="600"/>
              </a:spcAft>
            </a:pPr>
            <a:r>
              <a:rPr sz="1400" b="0">
                <a:solidFill>
                  <a:srgbClr val="E8F5EE"/>
                </a:solidFill>
                <a:latin typeface="Segoe UI"/>
              </a:rPr>
              <a:t>•  No small-claims court for a $300 gig across borders.</a:t>
            </a:r>
          </a:p>
          <a:p>
            <a:pPr algn="l" indent="-171450" marL="171450">
              <a:spcAft>
                <a:spcPts val="600"/>
              </a:spcAft>
            </a:pPr>
            <a:r>
              <a:rPr sz="1400" b="0">
                <a:solidFill>
                  <a:srgbClr val="E8F5EE"/>
                </a:solidFill>
                <a:latin typeface="Segoe UI"/>
              </a:rPr>
              <a:t>•  Clients who do pay upfront invert the risk the other way.</a:t>
            </a:r>
          </a:p>
          <a:p>
            <a:pPr algn="l">
              <a:spcAft>
                <a:spcPts val="600"/>
              </a:spcAft>
            </a:pPr>
            <a:r>
              <a:rPr sz="800" b="0">
                <a:solidFill>
                  <a:srgbClr val="E8F5EE"/>
                </a:solidFill>
                <a:latin typeface="Segoe UI"/>
              </a:rPr>
              <a:t/>
            </a:r>
          </a:p>
          <a:p>
            <a:pPr algn="l">
              <a:spcAft>
                <a:spcPts val="600"/>
              </a:spcAft>
            </a:pPr>
            <a:r>
              <a:rPr sz="1600" b="1">
                <a:solidFill>
                  <a:srgbClr val="00D68F"/>
                </a:solidFill>
                <a:latin typeface="Segoe UI"/>
              </a:rPr>
              <a:t>For the client</a:t>
            </a:r>
          </a:p>
          <a:p>
            <a:pPr algn="l" indent="-171450" marL="171450">
              <a:spcAft>
                <a:spcPts val="600"/>
              </a:spcAft>
            </a:pPr>
            <a:r>
              <a:rPr sz="1400" b="0">
                <a:solidFill>
                  <a:srgbClr val="E8F5EE"/>
                </a:solidFill>
                <a:latin typeface="Segoe UI"/>
              </a:rPr>
              <a:t>•  Pay first → the freelancer can disappear with the money.</a:t>
            </a:r>
          </a:p>
          <a:p>
            <a:pPr algn="l" indent="-171450" marL="171450">
              <a:spcAft>
                <a:spcPts val="600"/>
              </a:spcAft>
            </a:pPr>
            <a:r>
              <a:rPr sz="1400" b="0">
                <a:solidFill>
                  <a:srgbClr val="E8F5EE"/>
                </a:solidFill>
                <a:latin typeface="Segoe UI"/>
              </a:rPr>
              <a:t>•  No neutral, cheap way to hold funds per milestone.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126480" y="2011680"/>
            <a:ext cx="5394960" cy="3566160"/>
          </a:xfrm>
          <a:prstGeom prst="roundRect">
            <a:avLst>
              <a:gd name="adj" fmla="val 6000"/>
            </a:avLst>
          </a:prstGeom>
          <a:solidFill>
            <a:srgbClr val="0A2015"/>
          </a:solidFill>
          <a:ln w="12700">
            <a:solidFill>
              <a:srgbClr val="1D4A3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355080" y="2194560"/>
            <a:ext cx="4937760" cy="3200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600" b="1">
                <a:solidFill>
                  <a:srgbClr val="00D68F"/>
                </a:solidFill>
                <a:latin typeface="Segoe UI"/>
              </a:rPr>
              <a:t>Why stablecoin, why now</a:t>
            </a:r>
          </a:p>
          <a:p>
            <a:pPr algn="l" indent="-171450" marL="171450">
              <a:spcAft>
                <a:spcPts val="600"/>
              </a:spcAft>
            </a:pPr>
            <a:r>
              <a:rPr sz="1400" b="0">
                <a:solidFill>
                  <a:srgbClr val="E8F5EE"/>
                </a:solidFill>
                <a:latin typeface="Segoe UI"/>
              </a:rPr>
              <a:t>•  Crypto clients can pay instantly — but a volatile budget is unusable for real work.</a:t>
            </a:r>
          </a:p>
          <a:p>
            <a:pPr algn="l" indent="-171450" marL="171450">
              <a:spcAft>
                <a:spcPts val="600"/>
              </a:spcAft>
            </a:pPr>
            <a:r>
              <a:rPr sz="1400" b="0">
                <a:solidFill>
                  <a:srgbClr val="E8F5EE"/>
                </a:solidFill>
                <a:latin typeface="Segoe UI"/>
              </a:rPr>
              <a:t>•  MUSD is a Bitcoin-backed stablecoin: the client keeps BTC exposure, the freelancer gets a stable unit.</a:t>
            </a:r>
          </a:p>
          <a:p>
            <a:pPr algn="l" indent="-171450" marL="171450">
              <a:spcAft>
                <a:spcPts val="600"/>
              </a:spcAft>
            </a:pPr>
            <a:r>
              <a:rPr sz="1400" b="0">
                <a:solidFill>
                  <a:srgbClr val="E8F5EE"/>
                </a:solidFill>
                <a:latin typeface="Segoe UI"/>
              </a:rPr>
              <a:t>•  Existing escrow contracts are all-or-nothing: no milestones, no review window, no refunds, no arbiter.</a:t>
            </a:r>
          </a:p>
          <a:p>
            <a:pPr algn="l" indent="-171450" marL="171450">
              <a:spcAft>
                <a:spcPts val="600"/>
              </a:spcAft>
            </a:pPr>
            <a:r>
              <a:rPr sz="1400" b="1">
                <a:solidFill>
                  <a:srgbClr val="FFB020"/>
                </a:solidFill>
                <a:latin typeface="Segoe UI"/>
              </a:rPr>
              <a:t>•  Result: crypto-native work still runs on trust and screenshots.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6400800"/>
            <a:ext cx="8229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000" b="0">
                <a:solidFill>
                  <a:srgbClr val="8FB5A1"/>
                </a:solidFill>
                <a:latin typeface="Segoe UI"/>
              </a:rPr>
              <a:t>MezoGig · milestone escrow in MUSD on Mezo · AKINDO “Build with MUSD and MEZO”, Wave 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789920" y="6400800"/>
            <a:ext cx="8229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Aft>
                <a:spcPts val="600"/>
              </a:spcAft>
            </a:pPr>
            <a:r>
              <a:rPr sz="1000" b="0">
                <a:solidFill>
                  <a:srgbClr val="8FB5A1"/>
                </a:solidFill>
                <a:latin typeface="Segoe UI"/>
              </a:rPr>
              <a:t>2/8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4130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11480"/>
            <a:ext cx="10972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200" b="1">
                <a:solidFill>
                  <a:srgbClr val="00D68F"/>
                </a:solidFill>
                <a:latin typeface="Segoe UI"/>
              </a:rPr>
              <a:t>SOLUTION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777240"/>
            <a:ext cx="1097280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3400" b="1">
                <a:solidFill>
                  <a:srgbClr val="E8F5EE"/>
                </a:solidFill>
                <a:latin typeface="Segoe UI"/>
              </a:rPr>
              <a:t>One escrow contract, four exits, zero admin keys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691640"/>
            <a:ext cx="1463040" cy="38100"/>
          </a:xfrm>
          <a:prstGeom prst="rect">
            <a:avLst/>
          </a:prstGeom>
          <a:solidFill>
            <a:srgbClr val="00D68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640080" y="1965960"/>
            <a:ext cx="566928" cy="566928"/>
          </a:xfrm>
          <a:prstGeom prst="roundRect">
            <a:avLst>
              <a:gd name="adj" fmla="val 6000"/>
            </a:avLst>
          </a:prstGeom>
          <a:solidFill>
            <a:srgbClr val="00D6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40080" y="2039112"/>
            <a:ext cx="566928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Aft>
                <a:spcPts val="600"/>
              </a:spcAft>
            </a:pPr>
            <a:r>
              <a:rPr sz="1600" b="1">
                <a:solidFill>
                  <a:srgbClr val="04130C"/>
                </a:solidFill>
                <a:latin typeface="Segoe UI"/>
              </a:rPr>
              <a:t>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417320" y="1929384"/>
            <a:ext cx="100584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700" b="1">
                <a:solidFill>
                  <a:srgbClr val="E8F5EE"/>
                </a:solidFill>
                <a:latin typeface="Segoe UI"/>
              </a:rPr>
              <a:t>1 · Fund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417320" y="2313432"/>
            <a:ext cx="100584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300" b="0">
                <a:solidFill>
                  <a:srgbClr val="8FB5A1"/>
                </a:solidFill>
                <a:latin typeface="Segoe UI"/>
              </a:rPr>
              <a:t>Client deposits the full budget in MUSD (approve, or one-tx EIP-2612 permit).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40080" y="2898648"/>
            <a:ext cx="566928" cy="566928"/>
          </a:xfrm>
          <a:prstGeom prst="roundRect">
            <a:avLst>
              <a:gd name="adj" fmla="val 6000"/>
            </a:avLst>
          </a:prstGeom>
          <a:solidFill>
            <a:srgbClr val="00D6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40080" y="2971800"/>
            <a:ext cx="566928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Aft>
                <a:spcPts val="600"/>
              </a:spcAft>
            </a:pPr>
            <a:r>
              <a:rPr sz="1600" b="1">
                <a:solidFill>
                  <a:srgbClr val="04130C"/>
                </a:solidFill>
                <a:latin typeface="Segoe UI"/>
              </a:rPr>
              <a:t>2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417320" y="2862072"/>
            <a:ext cx="100584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700" b="1">
                <a:solidFill>
                  <a:srgbClr val="E8F5EE"/>
                </a:solidFill>
                <a:latin typeface="Segoe UI"/>
              </a:rPr>
              <a:t>2 · Deliver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417320" y="3246120"/>
            <a:ext cx="100584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300" b="0">
                <a:solidFill>
                  <a:srgbClr val="8FB5A1"/>
                </a:solidFill>
                <a:latin typeface="Segoe UI"/>
              </a:rPr>
              <a:t>Freelancer submits a milestone with a proof link before its deadline.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40080" y="3831336"/>
            <a:ext cx="566928" cy="566928"/>
          </a:xfrm>
          <a:prstGeom prst="roundRect">
            <a:avLst>
              <a:gd name="adj" fmla="val 6000"/>
            </a:avLst>
          </a:prstGeom>
          <a:solidFill>
            <a:srgbClr val="00D6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40080" y="3904488"/>
            <a:ext cx="566928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Aft>
                <a:spcPts val="600"/>
              </a:spcAft>
            </a:pPr>
            <a:r>
              <a:rPr sz="1600" b="1">
                <a:solidFill>
                  <a:srgbClr val="04130C"/>
                </a:solidFill>
                <a:latin typeface="Segoe UI"/>
              </a:rPr>
              <a:t>3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417320" y="3794760"/>
            <a:ext cx="100584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700" b="1">
                <a:solidFill>
                  <a:srgbClr val="E8F5EE"/>
                </a:solidFill>
                <a:latin typeface="Segoe UI"/>
              </a:rPr>
              <a:t>3 · Release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417320" y="4178808"/>
            <a:ext cx="100584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300" b="0">
                <a:solidFill>
                  <a:srgbClr val="8FB5A1"/>
                </a:solidFill>
                <a:latin typeface="Segoe UI"/>
              </a:rPr>
              <a:t>Client approves → paid instantly. Silence → freelancer claims after 148 s review window.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640080" y="4764024"/>
            <a:ext cx="566928" cy="566928"/>
          </a:xfrm>
          <a:prstGeom prst="roundRect">
            <a:avLst>
              <a:gd name="adj" fmla="val 6000"/>
            </a:avLst>
          </a:prstGeom>
          <a:solidFill>
            <a:srgbClr val="00D6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40080" y="4837176"/>
            <a:ext cx="566928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Aft>
                <a:spcPts val="600"/>
              </a:spcAft>
            </a:pPr>
            <a:r>
              <a:rPr sz="1600" b="1">
                <a:solidFill>
                  <a:srgbClr val="04130C"/>
                </a:solidFill>
                <a:latin typeface="Segoe UI"/>
              </a:rPr>
              <a:t>4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417320" y="4727448"/>
            <a:ext cx="100584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700" b="1">
                <a:solidFill>
                  <a:srgbClr val="E8F5EE"/>
                </a:solidFill>
                <a:latin typeface="Segoe UI"/>
              </a:rPr>
              <a:t>4 · Exit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417320" y="5111496"/>
            <a:ext cx="100584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300" b="0">
                <a:solidFill>
                  <a:srgbClr val="8FB5A1"/>
                </a:solidFill>
                <a:latin typeface="Segoe UI"/>
              </a:rPr>
              <a:t>Missed deadline → refund. Disagreement → arbiter splits. Both agree → mutual cancel.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640080" y="5623560"/>
            <a:ext cx="10881360" cy="658368"/>
          </a:xfrm>
          <a:prstGeom prst="roundRect">
            <a:avLst>
              <a:gd name="adj" fmla="val 6000"/>
            </a:avLst>
          </a:prstGeom>
          <a:solidFill>
            <a:srgbClr val="0A2015"/>
          </a:solidFill>
          <a:ln w="12700">
            <a:solidFill>
              <a:srgbClr val="1D4A3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868680" y="5733288"/>
            <a:ext cx="1042416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400" b="1">
                <a:solidFill>
                  <a:srgbClr val="00D68F"/>
                </a:solidFill>
                <a:latin typeface="Segoe UI"/>
              </a:rPr>
              <a:t>No owner role · no platform fee · no upgradeability · token address immutable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40080" y="6400800"/>
            <a:ext cx="8229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000" b="0">
                <a:solidFill>
                  <a:srgbClr val="8FB5A1"/>
                </a:solidFill>
                <a:latin typeface="Segoe UI"/>
              </a:rPr>
              <a:t>MezoGig · milestone escrow in MUSD on Mezo · AKINDO “Build with MUSD and MEZO”, Wave 1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0789920" y="6400800"/>
            <a:ext cx="8229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Aft>
                <a:spcPts val="600"/>
              </a:spcAft>
            </a:pPr>
            <a:r>
              <a:rPr sz="1000" b="0">
                <a:solidFill>
                  <a:srgbClr val="8FB5A1"/>
                </a:solidFill>
                <a:latin typeface="Segoe UI"/>
              </a:rPr>
              <a:t>3/8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4130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11480"/>
            <a:ext cx="10972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200" b="1">
                <a:solidFill>
                  <a:srgbClr val="00D68F"/>
                </a:solidFill>
                <a:latin typeface="Segoe UI"/>
              </a:rPr>
              <a:t>INTEGRATION (30 % OF THE SCORE)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777240"/>
            <a:ext cx="1097280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3400" b="1">
                <a:solidFill>
                  <a:srgbClr val="E8F5EE"/>
                </a:solidFill>
                <a:latin typeface="Segoe UI"/>
              </a:rPr>
              <a:t>How MUSD is used — not decoration, settlement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691640"/>
            <a:ext cx="1463040" cy="38100"/>
          </a:xfrm>
          <a:prstGeom prst="rect">
            <a:avLst/>
          </a:prstGeom>
          <a:solidFill>
            <a:srgbClr val="00D68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640080" y="1965960"/>
            <a:ext cx="5852160" cy="3840480"/>
          </a:xfrm>
          <a:prstGeom prst="roundRect">
            <a:avLst>
              <a:gd name="adj" fmla="val 6000"/>
            </a:avLst>
          </a:prstGeom>
          <a:solidFill>
            <a:srgbClr val="0A2015"/>
          </a:solidFill>
          <a:ln w="12700">
            <a:solidFill>
              <a:srgbClr val="1D4A3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68680" y="2148840"/>
            <a:ext cx="5394960" cy="34747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600" b="1">
                <a:solidFill>
                  <a:srgbClr val="00D68F"/>
                </a:solidFill>
                <a:latin typeface="Segoe UI"/>
              </a:rPr>
              <a:t>Money flows</a:t>
            </a:r>
          </a:p>
          <a:p>
            <a:pPr algn="l" indent="-171450" marL="171450">
              <a:spcAft>
                <a:spcPts val="600"/>
              </a:spcAft>
            </a:pPr>
            <a:r>
              <a:rPr sz="1300" b="0">
                <a:solidFill>
                  <a:srgbClr val="E8F5EE"/>
                </a:solidFill>
                <a:latin typeface="Segoe UI"/>
              </a:rPr>
              <a:t>•  Deposit: safeTransferFrom(client → escrow) of the full milestone sum, or createGigWithPermit (EIP-2612) with no separate approve.</a:t>
            </a:r>
          </a:p>
          <a:p>
            <a:pPr algn="l" indent="-171450" marL="171450">
              <a:spcAft>
                <a:spcPts val="600"/>
              </a:spcAft>
            </a:pPr>
            <a:r>
              <a:rPr sz="1300" b="0">
                <a:solidFill>
                  <a:srgbClr val="E8F5EE"/>
                </a:solidFill>
                <a:latin typeface="Segoe UI"/>
              </a:rPr>
              <a:t>•  Payout: escrow → freelancer on approve, or on claim after the review period.</a:t>
            </a:r>
          </a:p>
          <a:p>
            <a:pPr algn="l" indent="-171450" marL="171450">
              <a:spcAft>
                <a:spcPts val="600"/>
              </a:spcAft>
            </a:pPr>
            <a:r>
              <a:rPr sz="1300" b="0">
                <a:solidFill>
                  <a:srgbClr val="E8F5EE"/>
                </a:solidFill>
                <a:latin typeface="Segoe UI"/>
              </a:rPr>
              <a:t>•  Refund: escrow → client after a missed deadline, or on mutual cancel.</a:t>
            </a:r>
          </a:p>
          <a:p>
            <a:pPr algn="l" indent="-171450" marL="171450">
              <a:spcAft>
                <a:spcPts val="600"/>
              </a:spcAft>
            </a:pPr>
            <a:r>
              <a:rPr sz="1300" b="0">
                <a:solidFill>
                  <a:srgbClr val="E8F5EE"/>
                </a:solidFill>
                <a:latin typeface="Segoe UI"/>
              </a:rPr>
              <a:t>•  Dispute: arbiter splits the milestone by basis points; the remainder returns to the client.</a:t>
            </a:r>
          </a:p>
          <a:p>
            <a:pPr algn="l" indent="-171450" marL="171450">
              <a:spcAft>
                <a:spcPts val="600"/>
              </a:spcAft>
            </a:pPr>
            <a:r>
              <a:rPr sz="1300" b="1">
                <a:solidFill>
                  <a:srgbClr val="00D68F"/>
                </a:solidFill>
                <a:latin typeface="Segoe UI"/>
              </a:rPr>
              <a:t>•  Accounting invariant: paidOut + refunded ≤ funded, each milestone settles exactly once.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766560" y="1965960"/>
            <a:ext cx="4754880" cy="3840480"/>
          </a:xfrm>
          <a:prstGeom prst="roundRect">
            <a:avLst>
              <a:gd name="adj" fmla="val 6000"/>
            </a:avLst>
          </a:prstGeom>
          <a:solidFill>
            <a:srgbClr val="0A2015"/>
          </a:solidFill>
          <a:ln w="12700">
            <a:solidFill>
              <a:srgbClr val="1D4A3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995160" y="2148840"/>
            <a:ext cx="4297680" cy="34747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600" b="1">
                <a:solidFill>
                  <a:srgbClr val="00D68F"/>
                </a:solidFill>
                <a:latin typeface="Segoe UI"/>
              </a:rPr>
              <a:t>Facts on-chain</a:t>
            </a:r>
          </a:p>
          <a:p>
            <a:pPr algn="l" indent="-171450" marL="171450">
              <a:spcAft>
                <a:spcPts val="600"/>
              </a:spcAft>
            </a:pPr>
            <a:r>
              <a:rPr sz="1300" b="0">
                <a:solidFill>
                  <a:srgbClr val="E8F5EE"/>
                </a:solidFill>
                <a:latin typeface="Segoe UI"/>
              </a:rPr>
              <a:t>•  MUSD 0x118917a40FAF1CD7a13dB0Ef56C86De7973Ac503 — 18 decimals, permit supported.</a:t>
            </a:r>
          </a:p>
          <a:p>
            <a:pPr algn="l" indent="-171450" marL="171450">
              <a:spcAft>
                <a:spcPts val="600"/>
              </a:spcAft>
            </a:pPr>
            <a:r>
              <a:rPr sz="1300" b="0">
                <a:solidFill>
                  <a:srgbClr val="E8F5EE"/>
                </a:solidFill>
                <a:latin typeface="Segoe UI"/>
              </a:rPr>
              <a:t>•  Contract bound to that token by an immutable address.</a:t>
            </a:r>
          </a:p>
          <a:p>
            <a:pPr algn="l" indent="-171450" marL="171450">
              <a:spcAft>
                <a:spcPts val="600"/>
              </a:spcAft>
            </a:pPr>
            <a:r>
              <a:rPr sz="1300" b="0">
                <a:solidFill>
                  <a:srgbClr val="E8F5EE"/>
                </a:solidFill>
                <a:latin typeface="Segoe UI"/>
              </a:rPr>
              <a:t>•  Deployed on Mezo Testnet, block 16247351.</a:t>
            </a:r>
          </a:p>
          <a:p>
            <a:pPr algn="l">
              <a:spcAft>
                <a:spcPts val="600"/>
              </a:spcAft>
            </a:pPr>
            <a:r>
              <a:rPr sz="600" b="0">
                <a:solidFill>
                  <a:srgbClr val="E8F5EE"/>
                </a:solidFill>
                <a:latin typeface="Segoe UI"/>
              </a:rPr>
              <a:t/>
            </a:r>
          </a:p>
          <a:p>
            <a:pPr algn="l" indent="-171450" marL="171450">
              <a:spcAft>
                <a:spcPts val="600"/>
              </a:spcAft>
            </a:pPr>
            <a:r>
              <a:rPr sz="1300" b="1">
                <a:solidFill>
                  <a:srgbClr val="FFB020"/>
                </a:solidFill>
                <a:latin typeface="Segoe UI"/>
              </a:rPr>
              <a:t>•  Honest gap: MEZO token is not integrated.</a:t>
            </a:r>
          </a:p>
          <a:p>
            <a:pPr algn="l">
              <a:spcAft>
                <a:spcPts val="600"/>
              </a:spcAft>
            </a:pPr>
            <a:r>
              <a:rPr sz="1200" b="0">
                <a:solidFill>
                  <a:srgbClr val="8FB5A1"/>
                </a:solidFill>
                <a:latin typeface="Segoe UI"/>
              </a:rPr>
              <a:t>The rules allow “MUSD and/or MEZO”; MEZO utility (fee discounts, staked arbiters) is on the roadmap and is not claimed as done.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6400800"/>
            <a:ext cx="8229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000" b="0">
                <a:solidFill>
                  <a:srgbClr val="8FB5A1"/>
                </a:solidFill>
                <a:latin typeface="Segoe UI"/>
              </a:rPr>
              <a:t>MezoGig · milestone escrow in MUSD on Mezo · AKINDO “Build with MUSD and MEZO”, Wave 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789920" y="6400800"/>
            <a:ext cx="8229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Aft>
                <a:spcPts val="600"/>
              </a:spcAft>
            </a:pPr>
            <a:r>
              <a:rPr sz="1000" b="0">
                <a:solidFill>
                  <a:srgbClr val="8FB5A1"/>
                </a:solidFill>
                <a:latin typeface="Segoe UI"/>
              </a:rPr>
              <a:t>4/8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4130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11480"/>
            <a:ext cx="10972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200" b="1">
                <a:solidFill>
                  <a:srgbClr val="00D68F"/>
                </a:solidFill>
                <a:latin typeface="Segoe UI"/>
              </a:rPr>
              <a:t>DEMO (10 % UX + 10 % MATERIALS)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777240"/>
            <a:ext cx="1097280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3400" b="1">
                <a:solidFill>
                  <a:srgbClr val="E8F5EE"/>
                </a:solidFill>
                <a:latin typeface="Segoe UI"/>
              </a:rPr>
              <a:t>What a judge sees in the first five minutes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691640"/>
            <a:ext cx="1463040" cy="38100"/>
          </a:xfrm>
          <a:prstGeom prst="rect">
            <a:avLst/>
          </a:prstGeom>
          <a:solidFill>
            <a:srgbClr val="00D68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" name="Picture 4" descr="01-my-gig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965960"/>
            <a:ext cx="3520440" cy="2433245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640080" y="4709160"/>
            <a:ext cx="35204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100" b="0">
                <a:solidFill>
                  <a:srgbClr val="8FB5A1"/>
                </a:solidFill>
                <a:latin typeface="Segoe UI"/>
              </a:rPr>
              <a:t>Gigs list, role filters, live contract link</a:t>
            </a:r>
          </a:p>
        </p:txBody>
      </p:sp>
      <p:pic>
        <p:nvPicPr>
          <p:cNvPr id="7" name="Picture 6" descr="02-create-gig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343400" y="1965960"/>
            <a:ext cx="3520440" cy="2433245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4343400" y="4709160"/>
            <a:ext cx="35204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100" b="0">
                <a:solidFill>
                  <a:srgbClr val="8FB5A1"/>
                </a:solidFill>
                <a:latin typeface="Segoe UI"/>
              </a:rPr>
              <a:t>Create: two milestones, deadlines, deposit</a:t>
            </a:r>
          </a:p>
        </p:txBody>
      </p:sp>
      <p:pic>
        <p:nvPicPr>
          <p:cNvPr id="9" name="Picture 8" descr="03-connect-wallet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046720" y="1965960"/>
            <a:ext cx="3520440" cy="2433245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8046720" y="4709160"/>
            <a:ext cx="35204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100" b="0">
                <a:solidFill>
                  <a:srgbClr val="8FB5A1"/>
                </a:solidFill>
                <a:latin typeface="Segoe UI"/>
              </a:rPr>
              <a:t>Wallet connect — Mezo Testnet only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40080" y="5349240"/>
            <a:ext cx="10881360" cy="914400"/>
          </a:xfrm>
          <a:prstGeom prst="roundRect">
            <a:avLst>
              <a:gd name="adj" fmla="val 6000"/>
            </a:avLst>
          </a:prstGeom>
          <a:solidFill>
            <a:srgbClr val="0A2015"/>
          </a:solidFill>
          <a:ln w="12700">
            <a:solidFill>
              <a:srgbClr val="1D4A3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68680" y="5468112"/>
            <a:ext cx="1042416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400" b="1">
                <a:solidFill>
                  <a:srgbClr val="00D68F"/>
                </a:solidFill>
                <a:latin typeface="Segoe UI"/>
              </a:rPr>
              <a:t>Create → submit → approve → claim → dispute → refund</a:t>
            </a:r>
          </a:p>
          <a:p>
            <a:pPr algn="l">
              <a:spcAft>
                <a:spcPts val="600"/>
              </a:spcAft>
            </a:pPr>
            <a:r>
              <a:rPr sz="1100" b="0">
                <a:solidFill>
                  <a:srgbClr val="E8F5EE"/>
                </a:solidFill>
                <a:latin typeface="Segoe UI"/>
              </a:rPr>
              <a:t>Live: https://mak777uh.github.io/mezogig/  ·  contract: https://explorer.test.mezo.org/address/0x247b313d0eD3C532B16c7E5f9eA760272361600F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40080" y="6400800"/>
            <a:ext cx="8229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000" b="0">
                <a:solidFill>
                  <a:srgbClr val="8FB5A1"/>
                </a:solidFill>
                <a:latin typeface="Segoe UI"/>
              </a:rPr>
              <a:t>MezoGig · milestone escrow in MUSD on Mezo · AKINDO “Build with MUSD and MEZO”, Wave 1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789920" y="6400800"/>
            <a:ext cx="8229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Aft>
                <a:spcPts val="600"/>
              </a:spcAft>
            </a:pPr>
            <a:r>
              <a:rPr sz="1000" b="0">
                <a:solidFill>
                  <a:srgbClr val="8FB5A1"/>
                </a:solidFill>
                <a:latin typeface="Segoe UI"/>
              </a:rPr>
              <a:t>5/8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4130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11480"/>
            <a:ext cx="10972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200" b="1">
                <a:solidFill>
                  <a:srgbClr val="00D68F"/>
                </a:solidFill>
                <a:latin typeface="Segoe UI"/>
              </a:rPr>
              <a:t>TECHNICAL (20 %)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777240"/>
            <a:ext cx="1097280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3400" b="1">
                <a:solidFill>
                  <a:srgbClr val="E8F5EE"/>
                </a:solidFill>
                <a:latin typeface="Segoe UI"/>
              </a:rPr>
              <a:t>Small contract, boring security, checkable evidence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691640"/>
            <a:ext cx="1463040" cy="38100"/>
          </a:xfrm>
          <a:prstGeom prst="rect">
            <a:avLst/>
          </a:prstGeom>
          <a:solidFill>
            <a:srgbClr val="00D68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640080" y="1965960"/>
            <a:ext cx="5394960" cy="713232"/>
          </a:xfrm>
          <a:prstGeom prst="roundRect">
            <a:avLst>
              <a:gd name="adj" fmla="val 6000"/>
            </a:avLst>
          </a:prstGeom>
          <a:solidFill>
            <a:srgbClr val="0A2015"/>
          </a:solidFill>
          <a:ln w="12700">
            <a:solidFill>
              <a:srgbClr val="1D4A3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22960" y="2039112"/>
            <a:ext cx="5029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500" b="1">
                <a:solidFill>
                  <a:srgbClr val="00D68F"/>
                </a:solidFill>
                <a:latin typeface="Segoe UI"/>
              </a:rPr>
              <a:t>69 tests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60" y="2331720"/>
            <a:ext cx="5029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100" b="0">
                <a:solidFill>
                  <a:srgbClr val="8FB5A1"/>
                </a:solidFill>
                <a:latin typeface="Segoe UI"/>
              </a:rPr>
              <a:t>lifecycle, guards, terminal states, fuzz invariants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40080" y="2788920"/>
            <a:ext cx="5394960" cy="713232"/>
          </a:xfrm>
          <a:prstGeom prst="roundRect">
            <a:avLst>
              <a:gd name="adj" fmla="val 6000"/>
            </a:avLst>
          </a:prstGeom>
          <a:solidFill>
            <a:srgbClr val="0A2015"/>
          </a:solidFill>
          <a:ln w="12700">
            <a:solidFill>
              <a:srgbClr val="1D4A3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22960" y="2862072"/>
            <a:ext cx="5029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500" b="1">
                <a:solidFill>
                  <a:srgbClr val="00D68F"/>
                </a:solidFill>
                <a:latin typeface="Segoe UI"/>
              </a:rPr>
              <a:t>100 % / 92 %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22960" y="3154680"/>
            <a:ext cx="5029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100" b="0">
                <a:solidFill>
                  <a:srgbClr val="8FB5A1"/>
                </a:solidFill>
                <a:latin typeface="Segoe UI"/>
              </a:rPr>
              <a:t>statements / branches of the escrow contract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40080" y="3611880"/>
            <a:ext cx="5394960" cy="713232"/>
          </a:xfrm>
          <a:prstGeom prst="roundRect">
            <a:avLst>
              <a:gd name="adj" fmla="val 6000"/>
            </a:avLst>
          </a:prstGeom>
          <a:solidFill>
            <a:srgbClr val="0A2015"/>
          </a:solidFill>
          <a:ln w="12700">
            <a:solidFill>
              <a:srgbClr val="1D4A3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22960" y="3685032"/>
            <a:ext cx="5029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500" b="1">
                <a:solidFill>
                  <a:srgbClr val="00D68F"/>
                </a:solidFill>
                <a:latin typeface="Segoe UI"/>
              </a:rPr>
              <a:t>6 attacks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22960" y="3977640"/>
            <a:ext cx="5029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100" b="0">
                <a:solidFill>
                  <a:srgbClr val="8FB5A1"/>
                </a:solidFill>
                <a:latin typeface="Segoe UI"/>
              </a:rPr>
              <a:t>malicious ERC-20 reentrancy attempts, all rejected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40080" y="4434840"/>
            <a:ext cx="5394960" cy="713232"/>
          </a:xfrm>
          <a:prstGeom prst="roundRect">
            <a:avLst>
              <a:gd name="adj" fmla="val 6000"/>
            </a:avLst>
          </a:prstGeom>
          <a:solidFill>
            <a:srgbClr val="0A2015"/>
          </a:solidFill>
          <a:ln w="12700">
            <a:solidFill>
              <a:srgbClr val="1D4A3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22960" y="4507992"/>
            <a:ext cx="5029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500" b="1">
                <a:solidFill>
                  <a:srgbClr val="00D68F"/>
                </a:solidFill>
                <a:latin typeface="Segoe UI"/>
              </a:rPr>
              <a:t>6 Slither findings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22960" y="4800600"/>
            <a:ext cx="5029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100" b="0">
                <a:solidFill>
                  <a:srgbClr val="8FB5A1"/>
                </a:solidFill>
                <a:latin typeface="Segoe UI"/>
              </a:rPr>
              <a:t>every one dispositioned, no high/medium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640080" y="5257800"/>
            <a:ext cx="5394960" cy="713232"/>
          </a:xfrm>
          <a:prstGeom prst="roundRect">
            <a:avLst>
              <a:gd name="adj" fmla="val 6000"/>
            </a:avLst>
          </a:prstGeom>
          <a:solidFill>
            <a:srgbClr val="0A2015"/>
          </a:solidFill>
          <a:ln w="12700">
            <a:solidFill>
              <a:srgbClr val="1D4A3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822960" y="5330952"/>
            <a:ext cx="5029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500" b="1">
                <a:solidFill>
                  <a:srgbClr val="00D68F"/>
                </a:solidFill>
                <a:latin typeface="Segoe UI"/>
              </a:rPr>
              <a:t>Sourcify exact_match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22960" y="5623560"/>
            <a:ext cx="5029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100" b="0">
                <a:solidFill>
                  <a:srgbClr val="8FB5A1"/>
                </a:solidFill>
                <a:latin typeface="Segoe UI"/>
              </a:rPr>
              <a:t>creation + runtime bytecode, chain 31611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6309360" y="1965960"/>
            <a:ext cx="5212080" cy="2331720"/>
          </a:xfrm>
          <a:prstGeom prst="roundRect">
            <a:avLst>
              <a:gd name="adj" fmla="val 6000"/>
            </a:avLst>
          </a:prstGeom>
          <a:solidFill>
            <a:srgbClr val="06180F"/>
          </a:solidFill>
          <a:ln w="12700">
            <a:solidFill>
              <a:srgbClr val="1D4A3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6492240" y="2084831"/>
            <a:ext cx="4846320" cy="21031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200" b="1">
                <a:solidFill>
                  <a:srgbClr val="8FB5A1"/>
                </a:solidFill>
                <a:latin typeface="Segoe UI"/>
              </a:rPr>
              <a:t>Verify in one command</a:t>
            </a:r>
          </a:p>
          <a:p>
            <a:pPr algn="l">
              <a:spcAft>
                <a:spcPts val="600"/>
              </a:spcAft>
            </a:pPr>
            <a:r>
              <a:rPr sz="1000" b="0">
                <a:solidFill>
                  <a:srgbClr val="E8F5EE"/>
                </a:solidFill>
                <a:latin typeface="Segoe UI"/>
              </a:rPr>
              <a:t>ESCROW_ADDRESS=0x247b…600F \</a:t>
            </a:r>
          </a:p>
          <a:p>
            <a:pPr algn="l">
              <a:spcAft>
                <a:spcPts val="600"/>
              </a:spcAft>
            </a:pPr>
            <a:r>
              <a:rPr sz="1000" b="0">
                <a:solidFill>
                  <a:srgbClr val="E8F5EE"/>
                </a:solidFill>
                <a:latin typeface="Segoe UI"/>
              </a:rPr>
              <a:t>  node scripts/check-musd.js</a:t>
            </a:r>
          </a:p>
          <a:p>
            <a:pPr algn="l">
              <a:spcAft>
                <a:spcPts val="600"/>
              </a:spcAft>
            </a:pPr>
            <a:r>
              <a:rPr sz="1000" b="0">
                <a:solidFill>
                  <a:srgbClr val="00D68F"/>
                </a:solidFill>
                <a:latin typeface="Segoe UI"/>
              </a:rPr>
              <a:t>→ musd(), reviewPeriod()=148, gigCount()=0</a:t>
            </a:r>
          </a:p>
          <a:p>
            <a:pPr algn="l">
              <a:spcAft>
                <a:spcPts val="600"/>
              </a:spcAft>
            </a:pPr>
            <a:r>
              <a:rPr sz="400" b="0">
                <a:solidFill>
                  <a:srgbClr val="E8F5EE"/>
                </a:solidFill>
                <a:latin typeface="Segoe UI"/>
              </a:rPr>
              <a:t/>
            </a:r>
          </a:p>
          <a:p>
            <a:pPr algn="l">
              <a:spcAft>
                <a:spcPts val="600"/>
              </a:spcAft>
            </a:pPr>
            <a:r>
              <a:rPr sz="1000" b="0">
                <a:solidFill>
                  <a:srgbClr val="E8F5EE"/>
                </a:solidFill>
                <a:latin typeface="Segoe UI"/>
              </a:rPr>
              <a:t>npm test        # 69 passing</a:t>
            </a:r>
          </a:p>
          <a:p>
            <a:pPr algn="l">
              <a:spcAft>
                <a:spcPts val="600"/>
              </a:spcAft>
            </a:pPr>
            <a:r>
              <a:rPr sz="1000" b="0">
                <a:solidFill>
                  <a:srgbClr val="E8F5EE"/>
                </a:solidFill>
                <a:latin typeface="Segoe UI"/>
              </a:rPr>
              <a:t>npm run coverage</a:t>
            </a:r>
          </a:p>
          <a:p>
            <a:pPr algn="l">
              <a:spcAft>
                <a:spcPts val="600"/>
              </a:spcAft>
            </a:pPr>
            <a:r>
              <a:rPr sz="1000" b="0">
                <a:solidFill>
                  <a:srgbClr val="E8F5EE"/>
                </a:solidFill>
                <a:latin typeface="Segoe UI"/>
              </a:rPr>
              <a:t>npm run verify:sourcify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6309360" y="4434840"/>
            <a:ext cx="5212080" cy="1417320"/>
          </a:xfrm>
          <a:prstGeom prst="roundRect">
            <a:avLst>
              <a:gd name="adj" fmla="val 6000"/>
            </a:avLst>
          </a:prstGeom>
          <a:solidFill>
            <a:srgbClr val="0A2015"/>
          </a:solidFill>
          <a:ln w="12700">
            <a:solidFill>
              <a:srgbClr val="1D4A3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6492240" y="4553712"/>
            <a:ext cx="4846320" cy="11887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200" b="1">
                <a:solidFill>
                  <a:srgbClr val="00D68F"/>
                </a:solidFill>
                <a:latin typeface="Segoe UI"/>
              </a:rPr>
              <a:t>Security model</a:t>
            </a:r>
          </a:p>
          <a:p>
            <a:pPr algn="l">
              <a:spcAft>
                <a:spcPts val="600"/>
              </a:spcAft>
            </a:pPr>
            <a:r>
              <a:rPr sz="1100" b="0">
                <a:solidFill>
                  <a:srgbClr val="E8F5EE"/>
                </a:solidFill>
                <a:latin typeface="Segoe UI"/>
              </a:rPr>
              <a:t>No owner, no withdrawal path, no delegatecall</a:t>
            </a:r>
          </a:p>
          <a:p>
            <a:pPr algn="l">
              <a:spcAft>
                <a:spcPts val="600"/>
              </a:spcAft>
            </a:pPr>
            <a:r>
              <a:rPr sz="1100" b="0">
                <a:solidFill>
                  <a:srgbClr val="E8F5EE"/>
                </a:solidFill>
                <a:latin typeface="Segoe UI"/>
              </a:rPr>
              <a:t>CEI + nonReentrant + SafeERC20, immutable token</a:t>
            </a:r>
          </a:p>
          <a:p>
            <a:pPr algn="l">
              <a:spcAft>
                <a:spcPts val="600"/>
              </a:spcAft>
            </a:pPr>
            <a:r>
              <a:rPr sz="1100" b="0">
                <a:solidFill>
                  <a:srgbClr val="E8F5EE"/>
                </a:solidFill>
                <a:latin typeface="Segoe UI"/>
              </a:rPr>
              <a:t>Payouts bounded per milestone, settle once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40080" y="6400800"/>
            <a:ext cx="8229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000" b="0">
                <a:solidFill>
                  <a:srgbClr val="8FB5A1"/>
                </a:solidFill>
                <a:latin typeface="Segoe UI"/>
              </a:rPr>
              <a:t>MezoGig · milestone escrow in MUSD on Mezo · AKINDO “Build with MUSD and MEZO”, Wave 1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0789920" y="6400800"/>
            <a:ext cx="8229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Aft>
                <a:spcPts val="600"/>
              </a:spcAft>
            </a:pPr>
            <a:r>
              <a:rPr sz="1000" b="0">
                <a:solidFill>
                  <a:srgbClr val="8FB5A1"/>
                </a:solidFill>
                <a:latin typeface="Segoe UI"/>
              </a:rPr>
              <a:t>6/8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4130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11480"/>
            <a:ext cx="10972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200" b="1">
                <a:solidFill>
                  <a:srgbClr val="00D68F"/>
                </a:solidFill>
                <a:latin typeface="Segoe UI"/>
              </a:rPr>
              <a:t>BUSINESS (30 %)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777240"/>
            <a:ext cx="1097280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3400" b="1">
                <a:solidFill>
                  <a:srgbClr val="E8F5EE"/>
                </a:solidFill>
                <a:latin typeface="Segoe UI"/>
              </a:rPr>
              <a:t>Why the market pays for this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691640"/>
            <a:ext cx="1463040" cy="38100"/>
          </a:xfrm>
          <a:prstGeom prst="rect">
            <a:avLst/>
          </a:prstGeom>
          <a:solidFill>
            <a:srgbClr val="00D68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640080" y="1965960"/>
            <a:ext cx="3520440" cy="3657600"/>
          </a:xfrm>
          <a:prstGeom prst="roundRect">
            <a:avLst>
              <a:gd name="adj" fmla="val 6000"/>
            </a:avLst>
          </a:prstGeom>
          <a:solidFill>
            <a:srgbClr val="0A2015"/>
          </a:solidFill>
          <a:ln w="12700">
            <a:solidFill>
              <a:srgbClr val="1D4A3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41248" y="2121408"/>
            <a:ext cx="31089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400" b="1">
                <a:solidFill>
                  <a:srgbClr val="00D68F"/>
                </a:solidFill>
                <a:latin typeface="Segoe UI"/>
              </a:rPr>
              <a:t>Who is the customer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41248" y="2560320"/>
            <a:ext cx="3108960" cy="2926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 indent="-171450" marL="171450">
              <a:spcAft>
                <a:spcPts val="600"/>
              </a:spcAft>
            </a:pPr>
            <a:r>
              <a:rPr sz="1200" b="0">
                <a:solidFill>
                  <a:srgbClr val="E8F5EE"/>
                </a:solidFill>
                <a:latin typeface="Segoe UI"/>
              </a:rPr>
              <a:t>•  Freelancers and small agencies serving crypto-native clients</a:t>
            </a:r>
          </a:p>
          <a:p>
            <a:pPr algn="l" indent="-171450" marL="171450">
              <a:spcAft>
                <a:spcPts val="600"/>
              </a:spcAft>
            </a:pPr>
            <a:r>
              <a:rPr sz="1200" b="0">
                <a:solidFill>
                  <a:srgbClr val="E8F5EE"/>
                </a:solidFill>
                <a:latin typeface="Segoe UI"/>
              </a:rPr>
              <a:t>•  DAOs outsourcing bounded tasks (design, audits, content)</a:t>
            </a:r>
          </a:p>
          <a:p>
            <a:pPr algn="l" indent="-171450" marL="171450">
              <a:spcAft>
                <a:spcPts val="600"/>
              </a:spcAft>
            </a:pPr>
            <a:r>
              <a:rPr sz="1200" b="0">
                <a:solidFill>
                  <a:srgbClr val="E8F5EE"/>
                </a:solidFill>
                <a:latin typeface="Segoe UI"/>
              </a:rPr>
              <a:t>•  BTC holders in the Mezo economy who need to pay for work without selling BTC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4343400" y="1965960"/>
            <a:ext cx="3520440" cy="3657600"/>
          </a:xfrm>
          <a:prstGeom prst="roundRect">
            <a:avLst>
              <a:gd name="adj" fmla="val 6000"/>
            </a:avLst>
          </a:prstGeom>
          <a:solidFill>
            <a:srgbClr val="0A2015"/>
          </a:solidFill>
          <a:ln w="12700">
            <a:solidFill>
              <a:srgbClr val="1D4A3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4544568" y="2121408"/>
            <a:ext cx="31089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400" b="1">
                <a:solidFill>
                  <a:srgbClr val="00D68F"/>
                </a:solidFill>
                <a:latin typeface="Segoe UI"/>
              </a:rPr>
              <a:t>Why Mezo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44568" y="2560320"/>
            <a:ext cx="3108960" cy="2926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 indent="-171450" marL="171450">
              <a:spcAft>
                <a:spcPts val="600"/>
              </a:spcAft>
            </a:pPr>
            <a:r>
              <a:rPr sz="1200" b="0">
                <a:solidFill>
                  <a:srgbClr val="E8F5EE"/>
                </a:solidFill>
                <a:latin typeface="Segoe UI"/>
              </a:rPr>
              <a:t>•  MUSD is a BTC-backed stable unit — the missing piece for work payments</a:t>
            </a:r>
          </a:p>
          <a:p>
            <a:pPr algn="l" indent="-171450" marL="171450">
              <a:spcAft>
                <a:spcPts val="600"/>
              </a:spcAft>
            </a:pPr>
            <a:r>
              <a:rPr sz="1200" b="0">
                <a:solidFill>
                  <a:srgbClr val="E8F5EE"/>
                </a:solidFill>
                <a:latin typeface="Segoe UI"/>
              </a:rPr>
              <a:t>•  Mezo’s audience already holds BTC and wants to spend without exiting</a:t>
            </a:r>
          </a:p>
          <a:p>
            <a:pPr algn="l" indent="-171450" marL="171450">
              <a:spcAft>
                <a:spcPts val="600"/>
              </a:spcAft>
            </a:pPr>
            <a:r>
              <a:rPr sz="1200" b="0">
                <a:solidFill>
                  <a:srgbClr val="E8F5EE"/>
                </a:solidFill>
                <a:latin typeface="Segoe UI"/>
              </a:rPr>
              <a:t>•  Escrow makes MUSD a settlement rail, not just a savings asset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046720" y="1965960"/>
            <a:ext cx="3520440" cy="3657600"/>
          </a:xfrm>
          <a:prstGeom prst="roundRect">
            <a:avLst>
              <a:gd name="adj" fmla="val 6000"/>
            </a:avLst>
          </a:prstGeom>
          <a:solidFill>
            <a:srgbClr val="0A2015"/>
          </a:solidFill>
          <a:ln w="12700">
            <a:solidFill>
              <a:srgbClr val="1D4A3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247888" y="2121408"/>
            <a:ext cx="31089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400" b="1">
                <a:solidFill>
                  <a:srgbClr val="00D68F"/>
                </a:solidFill>
                <a:latin typeface="Segoe UI"/>
              </a:rPr>
              <a:t>How it makes money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247888" y="2560320"/>
            <a:ext cx="3108960" cy="2926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 indent="-171450" marL="171450">
              <a:spcAft>
                <a:spcPts val="600"/>
              </a:spcAft>
            </a:pPr>
            <a:r>
              <a:rPr sz="1200" b="0">
                <a:solidFill>
                  <a:srgbClr val="E8F5EE"/>
                </a:solidFill>
                <a:latin typeface="Segoe UI"/>
              </a:rPr>
              <a:t>•  No fee in v1 (adoption); v2: optional arbiter marketplace and MEZO fee discounts</a:t>
            </a:r>
          </a:p>
          <a:p>
            <a:pPr algn="l" indent="-171450" marL="171450">
              <a:spcAft>
                <a:spcPts val="600"/>
              </a:spcAft>
            </a:pPr>
            <a:r>
              <a:rPr sz="1200" b="0">
                <a:solidFill>
                  <a:srgbClr val="E8F5EE"/>
                </a:solidFill>
                <a:latin typeface="Segoe UI"/>
              </a:rPr>
              <a:t>•  Distribution through Mezo Discord / AKINDO builders and freelance communities</a:t>
            </a:r>
          </a:p>
          <a:p>
            <a:pPr algn="l" indent="-171450" marL="171450">
              <a:spcAft>
                <a:spcPts val="600"/>
              </a:spcAft>
            </a:pPr>
            <a:r>
              <a:rPr sz="1200" b="0">
                <a:solidFill>
                  <a:srgbClr val="E8F5EE"/>
                </a:solidFill>
                <a:latin typeface="Segoe UI"/>
              </a:rPr>
              <a:t>•  Each gig is a repeatable on-chain flow: more MUSD volume, more wallets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40080" y="5760720"/>
            <a:ext cx="1088136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300" b="1">
                <a:solidFill>
                  <a:srgbClr val="FFB020"/>
                </a:solidFill>
                <a:latin typeface="Segoe UI"/>
              </a:rPr>
              <a:t>Positioning: every 1 MUSD that moves through MezoGig is MUSD used for real work — the exact utility Mezo is building toward.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40080" y="6400800"/>
            <a:ext cx="8229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000" b="0">
                <a:solidFill>
                  <a:srgbClr val="8FB5A1"/>
                </a:solidFill>
                <a:latin typeface="Segoe UI"/>
              </a:rPr>
              <a:t>MezoGig · milestone escrow in MUSD on Mezo · AKINDO “Build with MUSD and MEZO”, Wave 1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0789920" y="6400800"/>
            <a:ext cx="8229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Aft>
                <a:spcPts val="600"/>
              </a:spcAft>
            </a:pPr>
            <a:r>
              <a:rPr sz="1000" b="0">
                <a:solidFill>
                  <a:srgbClr val="8FB5A1"/>
                </a:solidFill>
                <a:latin typeface="Segoe UI"/>
              </a:rPr>
              <a:t>7/8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4130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11480"/>
            <a:ext cx="10972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200" b="1">
                <a:solidFill>
                  <a:srgbClr val="00D68F"/>
                </a:solidFill>
                <a:latin typeface="Segoe UI"/>
              </a:rPr>
              <a:t>ROADMAP &amp; TEAM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777240"/>
            <a:ext cx="1097280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3400" b="1">
                <a:solidFill>
                  <a:srgbClr val="E8F5EE"/>
                </a:solidFill>
                <a:latin typeface="Segoe UI"/>
              </a:rPr>
              <a:t>Three milestones, and what we are honest about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691640"/>
            <a:ext cx="1463040" cy="38100"/>
          </a:xfrm>
          <a:prstGeom prst="rect">
            <a:avLst/>
          </a:prstGeom>
          <a:solidFill>
            <a:srgbClr val="00D68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640080" y="1965960"/>
            <a:ext cx="6675120" cy="777240"/>
          </a:xfrm>
          <a:prstGeom prst="roundRect">
            <a:avLst>
              <a:gd name="adj" fmla="val 6000"/>
            </a:avLst>
          </a:prstGeom>
          <a:solidFill>
            <a:srgbClr val="0A2015"/>
          </a:solidFill>
          <a:ln w="12700">
            <a:solidFill>
              <a:srgbClr val="1D4A3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22960" y="2057400"/>
            <a:ext cx="1828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400" b="1">
                <a:solidFill>
                  <a:srgbClr val="00D68F"/>
                </a:solidFill>
                <a:latin typeface="Segoe UI"/>
              </a:rPr>
              <a:t>M1 · 2 weeks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2651760" y="2148840"/>
            <a:ext cx="448056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200" b="0">
                <a:solidFill>
                  <a:srgbClr val="E8F5EE"/>
                </a:solidFill>
                <a:latin typeface="Segoe UI"/>
              </a:rPr>
              <a:t>Hosted frontend polish, wallet UX, gig templates, docs video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40080" y="2880360"/>
            <a:ext cx="6675120" cy="777240"/>
          </a:xfrm>
          <a:prstGeom prst="roundRect">
            <a:avLst>
              <a:gd name="adj" fmla="val 6000"/>
            </a:avLst>
          </a:prstGeom>
          <a:solidFill>
            <a:srgbClr val="0A2015"/>
          </a:solidFill>
          <a:ln w="12700">
            <a:solidFill>
              <a:srgbClr val="1D4A3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22960" y="2971800"/>
            <a:ext cx="1828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400" b="1">
                <a:solidFill>
                  <a:srgbClr val="00D68F"/>
                </a:solidFill>
                <a:latin typeface="Segoe UI"/>
              </a:rPr>
              <a:t>M2 · 4 weeks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2651760" y="3063240"/>
            <a:ext cx="448056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200" b="0">
                <a:solidFill>
                  <a:srgbClr val="E8F5EE"/>
                </a:solidFill>
                <a:latin typeface="Segoe UI"/>
              </a:rPr>
              <a:t>Mezo mainnet deployment, third-party review, incident runbook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40080" y="3794760"/>
            <a:ext cx="6675120" cy="777240"/>
          </a:xfrm>
          <a:prstGeom prst="roundRect">
            <a:avLst>
              <a:gd name="adj" fmla="val 6000"/>
            </a:avLst>
          </a:prstGeom>
          <a:solidFill>
            <a:srgbClr val="0A2015"/>
          </a:solidFill>
          <a:ln w="12700">
            <a:solidFill>
              <a:srgbClr val="1D4A3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22960" y="3886200"/>
            <a:ext cx="1828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400" b="1">
                <a:solidFill>
                  <a:srgbClr val="00D68F"/>
                </a:solidFill>
                <a:latin typeface="Segoe UI"/>
              </a:rPr>
              <a:t>M3 · 8 weeks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2651760" y="3977640"/>
            <a:ext cx="448056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200" b="0">
                <a:solidFill>
                  <a:srgbClr val="E8F5EE"/>
                </a:solidFill>
                <a:latin typeface="Segoe UI"/>
              </a:rPr>
              <a:t>Dispute v2: staked arbiters, reputation, MEZO fee discounts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7589520" y="1965960"/>
            <a:ext cx="3931920" cy="2606040"/>
          </a:xfrm>
          <a:prstGeom prst="roundRect">
            <a:avLst>
              <a:gd name="adj" fmla="val 6000"/>
            </a:avLst>
          </a:prstGeom>
          <a:solidFill>
            <a:srgbClr val="0A2015"/>
          </a:solidFill>
          <a:ln w="12700">
            <a:solidFill>
              <a:srgbClr val="1D4A3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7772400" y="2103120"/>
            <a:ext cx="3566160" cy="2377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400" b="1">
                <a:solidFill>
                  <a:srgbClr val="00D68F"/>
                </a:solidFill>
                <a:latin typeface="Segoe UI"/>
              </a:rPr>
              <a:t>Team</a:t>
            </a:r>
          </a:p>
          <a:p>
            <a:pPr algn="l">
              <a:spcAft>
                <a:spcPts val="600"/>
              </a:spcAft>
            </a:pPr>
            <a:r>
              <a:rPr sz="1200" b="0">
                <a:solidFill>
                  <a:srgbClr val="E8F5EE"/>
                </a:solidFill>
                <a:latin typeface="Segoe UI"/>
              </a:rPr>
              <a:t>Operator (human): product, registration, payments</a:t>
            </a:r>
          </a:p>
          <a:p>
            <a:pPr algn="l">
              <a:spcAft>
                <a:spcPts val="600"/>
              </a:spcAft>
            </a:pPr>
            <a:r>
              <a:rPr sz="1200" b="0">
                <a:solidFill>
                  <a:srgbClr val="E8F5EE"/>
                </a:solidFill>
                <a:latin typeface="Segoe UI"/>
              </a:rPr>
              <a:t>AI agent team: contract, tests, frontend, docs</a:t>
            </a:r>
          </a:p>
          <a:p>
            <a:pPr algn="l">
              <a:spcAft>
                <a:spcPts val="600"/>
              </a:spcAft>
            </a:pPr>
            <a:r>
              <a:rPr sz="600" b="0">
                <a:solidFill>
                  <a:srgbClr val="E8F5EE"/>
                </a:solidFill>
                <a:latin typeface="Segoe UI"/>
              </a:rPr>
              <a:t/>
            </a:r>
          </a:p>
          <a:p>
            <a:pPr algn="l">
              <a:spcAft>
                <a:spcPts val="600"/>
              </a:spcAft>
            </a:pPr>
            <a:r>
              <a:rPr sz="1100" b="0">
                <a:solidFill>
                  <a:srgbClr val="8FB5A1"/>
                </a:solidFill>
                <a:latin typeface="Segoe UI"/>
              </a:rPr>
              <a:t>Built during Wave 1; code, tests and deployment are public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7589520" y="4709160"/>
            <a:ext cx="3931920" cy="1143000"/>
          </a:xfrm>
          <a:prstGeom prst="roundRect">
            <a:avLst>
              <a:gd name="adj" fmla="val 6000"/>
            </a:avLst>
          </a:prstGeom>
          <a:solidFill>
            <a:srgbClr val="0A2015"/>
          </a:solidFill>
          <a:ln w="12700">
            <a:solidFill>
              <a:srgbClr val="1D4A3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7772400" y="4828032"/>
            <a:ext cx="356616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200" b="1">
                <a:solidFill>
                  <a:srgbClr val="00D68F"/>
                </a:solidFill>
                <a:latin typeface="Segoe UI"/>
              </a:rPr>
              <a:t>Links</a:t>
            </a:r>
          </a:p>
          <a:p>
            <a:pPr algn="l">
              <a:spcAft>
                <a:spcPts val="600"/>
              </a:spcAft>
            </a:pPr>
            <a:r>
              <a:rPr sz="1100" b="0">
                <a:solidFill>
                  <a:srgbClr val="E8F5EE"/>
                </a:solidFill>
                <a:latin typeface="Segoe UI"/>
              </a:rPr>
              <a:t>github.com/mak777uh/mezogig</a:t>
            </a:r>
          </a:p>
          <a:p>
            <a:pPr algn="l">
              <a:spcAft>
                <a:spcPts val="600"/>
              </a:spcAft>
            </a:pPr>
            <a:r>
              <a:rPr sz="1100" b="0">
                <a:solidFill>
                  <a:srgbClr val="E8F5EE"/>
                </a:solidFill>
                <a:latin typeface="Segoe UI"/>
              </a:rPr>
              <a:t>mak777uh.github.io/mezogig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40080" y="6400800"/>
            <a:ext cx="8229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000" b="0">
                <a:solidFill>
                  <a:srgbClr val="8FB5A1"/>
                </a:solidFill>
                <a:latin typeface="Segoe UI"/>
              </a:rPr>
              <a:t>MezoGig · milestone escrow in MUSD on Mezo · AKINDO “Build with MUSD and MEZO”, Wave 1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0789920" y="6400800"/>
            <a:ext cx="8229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Aft>
                <a:spcPts val="600"/>
              </a:spcAft>
            </a:pPr>
            <a:r>
              <a:rPr sz="1000" b="0">
                <a:solidFill>
                  <a:srgbClr val="8FB5A1"/>
                </a:solidFill>
                <a:latin typeface="Segoe UI"/>
              </a:rPr>
              <a:t>8/8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